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301" r:id="rId3"/>
    <p:sldId id="302" r:id="rId4"/>
    <p:sldId id="303" r:id="rId5"/>
    <p:sldId id="289" r:id="rId6"/>
    <p:sldId id="304" r:id="rId7"/>
    <p:sldId id="290" r:id="rId8"/>
    <p:sldId id="291" r:id="rId9"/>
    <p:sldId id="305" r:id="rId10"/>
    <p:sldId id="306" r:id="rId11"/>
    <p:sldId id="292" r:id="rId12"/>
    <p:sldId id="307" r:id="rId13"/>
    <p:sldId id="293" r:id="rId14"/>
    <p:sldId id="294" r:id="rId15"/>
    <p:sldId id="308" r:id="rId16"/>
    <p:sldId id="309" r:id="rId17"/>
    <p:sldId id="295" r:id="rId18"/>
    <p:sldId id="310" r:id="rId19"/>
    <p:sldId id="296" r:id="rId20"/>
    <p:sldId id="311" r:id="rId21"/>
    <p:sldId id="312" r:id="rId22"/>
    <p:sldId id="297" r:id="rId23"/>
    <p:sldId id="313" r:id="rId24"/>
    <p:sldId id="314" r:id="rId25"/>
    <p:sldId id="298" r:id="rId26"/>
    <p:sldId id="315" r:id="rId27"/>
    <p:sldId id="316" r:id="rId28"/>
    <p:sldId id="299" r:id="rId29"/>
    <p:sldId id="300" r:id="rId30"/>
    <p:sldId id="261"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1C4B"/>
    <a:srgbClr val="BA2055"/>
    <a:srgbClr val="BD1F50"/>
    <a:srgbClr val="FFFFFF"/>
    <a:srgbClr val="2D465B"/>
    <a:srgbClr val="BD1F55"/>
    <a:srgbClr val="7F7F7F"/>
    <a:srgbClr val="ECEED2"/>
    <a:srgbClr val="FED843"/>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0068" autoAdjust="0"/>
  </p:normalViewPr>
  <p:slideViewPr>
    <p:cSldViewPr snapToGrid="0">
      <p:cViewPr varScale="1">
        <p:scale>
          <a:sx n="56" d="100"/>
          <a:sy n="56" d="100"/>
        </p:scale>
        <p:origin x="106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2400" b="1" i="0" u="none" strike="noStrike" baseline="0" dirty="0"/>
              <a:t>Model Performance Metrics</a:t>
            </a:r>
            <a:endParaRPr lang="en-US" sz="2400" b="1"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strRef>
              <c:f>Sheet1!$A$2:$A$5</c:f>
              <c:strCache>
                <c:ptCount val="4"/>
                <c:pt idx="0">
                  <c:v>Accuracy</c:v>
                </c:pt>
                <c:pt idx="1">
                  <c:v>Precision</c:v>
                </c:pt>
                <c:pt idx="2">
                  <c:v>Recall</c:v>
                </c:pt>
                <c:pt idx="3">
                  <c:v>F1-Score</c:v>
                </c:pt>
              </c:strCache>
            </c:strRef>
          </c:cat>
          <c:val>
            <c:numRef>
              <c:f>Sheet1!$B$2:$B$5</c:f>
              <c:numCache>
                <c:formatCode>General</c:formatCode>
                <c:ptCount val="4"/>
                <c:pt idx="0">
                  <c:v>90</c:v>
                </c:pt>
                <c:pt idx="1">
                  <c:v>100</c:v>
                </c:pt>
                <c:pt idx="2">
                  <c:v>83</c:v>
                </c:pt>
                <c:pt idx="3">
                  <c:v>4.5</c:v>
                </c:pt>
              </c:numCache>
            </c:numRef>
          </c:val>
          <c:extLst>
            <c:ext xmlns:c16="http://schemas.microsoft.com/office/drawing/2014/chart" uri="{C3380CC4-5D6E-409C-BE32-E72D297353CC}">
              <c16:uniqueId val="{00000000-7C8D-4AE9-A35E-965B5B7356E7}"/>
            </c:ext>
          </c:extLst>
        </c:ser>
        <c:ser>
          <c:idx val="1"/>
          <c:order val="1"/>
          <c:tx>
            <c:strRef>
              <c:f>Sheet1!$C$1</c:f>
              <c:strCache>
                <c:ptCount val="1"/>
                <c:pt idx="0">
                  <c:v>Column1</c:v>
                </c:pt>
              </c:strCache>
            </c:strRef>
          </c:tx>
          <c:spPr>
            <a:solidFill>
              <a:schemeClr val="accent2"/>
            </a:solidFill>
            <a:ln>
              <a:noFill/>
            </a:ln>
            <a:effectLst/>
          </c:spPr>
          <c:invertIfNegative val="0"/>
          <c:cat>
            <c:strRef>
              <c:f>Sheet1!$A$2:$A$5</c:f>
              <c:strCache>
                <c:ptCount val="4"/>
                <c:pt idx="0">
                  <c:v>Accuracy</c:v>
                </c:pt>
                <c:pt idx="1">
                  <c:v>Precision</c:v>
                </c:pt>
                <c:pt idx="2">
                  <c:v>Recall</c:v>
                </c:pt>
                <c:pt idx="3">
                  <c:v>F1-Score</c:v>
                </c:pt>
              </c:strCache>
            </c:strRef>
          </c:cat>
          <c:val>
            <c:numRef>
              <c:f>Sheet1!$C$2:$C$5</c:f>
              <c:numCache>
                <c:formatCode>General</c:formatCode>
                <c:ptCount val="4"/>
              </c:numCache>
            </c:numRef>
          </c:val>
          <c:extLst>
            <c:ext xmlns:c16="http://schemas.microsoft.com/office/drawing/2014/chart" uri="{C3380CC4-5D6E-409C-BE32-E72D297353CC}">
              <c16:uniqueId val="{00000001-7C8D-4AE9-A35E-965B5B7356E7}"/>
            </c:ext>
          </c:extLst>
        </c:ser>
        <c:ser>
          <c:idx val="2"/>
          <c:order val="2"/>
          <c:tx>
            <c:strRef>
              <c:f>Sheet1!$D$1</c:f>
              <c:strCache>
                <c:ptCount val="1"/>
                <c:pt idx="0">
                  <c:v>Column2</c:v>
                </c:pt>
              </c:strCache>
            </c:strRef>
          </c:tx>
          <c:spPr>
            <a:solidFill>
              <a:schemeClr val="accent3"/>
            </a:solidFill>
            <a:ln>
              <a:noFill/>
            </a:ln>
            <a:effectLst/>
          </c:spPr>
          <c:invertIfNegative val="0"/>
          <c:cat>
            <c:strRef>
              <c:f>Sheet1!$A$2:$A$5</c:f>
              <c:strCache>
                <c:ptCount val="4"/>
                <c:pt idx="0">
                  <c:v>Accuracy</c:v>
                </c:pt>
                <c:pt idx="1">
                  <c:v>Precision</c:v>
                </c:pt>
                <c:pt idx="2">
                  <c:v>Recall</c:v>
                </c:pt>
                <c:pt idx="3">
                  <c:v>F1-Score</c:v>
                </c:pt>
              </c:strCache>
            </c:strRef>
          </c:cat>
          <c:val>
            <c:numRef>
              <c:f>Sheet1!$D$2:$D$5</c:f>
              <c:numCache>
                <c:formatCode>General</c:formatCode>
                <c:ptCount val="4"/>
              </c:numCache>
            </c:numRef>
          </c:val>
          <c:extLst>
            <c:ext xmlns:c16="http://schemas.microsoft.com/office/drawing/2014/chart" uri="{C3380CC4-5D6E-409C-BE32-E72D297353CC}">
              <c16:uniqueId val="{00000002-7C8D-4AE9-A35E-965B5B7356E7}"/>
            </c:ext>
          </c:extLst>
        </c:ser>
        <c:dLbls>
          <c:showLegendKey val="0"/>
          <c:showVal val="0"/>
          <c:showCatName val="0"/>
          <c:showSerName val="0"/>
          <c:showPercent val="0"/>
          <c:showBubbleSize val="0"/>
        </c:dLbls>
        <c:gapWidth val="219"/>
        <c:overlap val="-27"/>
        <c:axId val="1187308431"/>
        <c:axId val="1187300751"/>
      </c:barChart>
      <c:catAx>
        <c:axId val="118730843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187300751"/>
        <c:crosses val="autoZero"/>
        <c:auto val="1"/>
        <c:lblAlgn val="ctr"/>
        <c:lblOffset val="100"/>
        <c:noMultiLvlLbl val="0"/>
      </c:catAx>
      <c:valAx>
        <c:axId val="118730075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18730843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0E24AE-3901-40F2-9A55-DAB6D80D74A4}"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9E6D1F-7F43-4330-AF78-262475477745}" type="slidenum">
              <a:rPr lang="en-US" smtClean="0"/>
              <a:t>‹#›</a:t>
            </a:fld>
            <a:endParaRPr lang="en-US"/>
          </a:p>
        </p:txBody>
      </p:sp>
    </p:spTree>
    <p:extLst>
      <p:ext uri="{BB962C8B-B14F-4D97-AF65-F5344CB8AC3E}">
        <p14:creationId xmlns:p14="http://schemas.microsoft.com/office/powerpoint/2010/main" val="22941342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886FF-50EF-26D1-014C-A4FF8103875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9E6BD5D-0562-8BD1-A1D4-25B42A60A62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5608C7E-621D-2F04-B447-78F1923E8613}"/>
              </a:ext>
            </a:extLst>
          </p:cNvPr>
          <p:cNvSpPr>
            <a:spLocks noGrp="1"/>
          </p:cNvSpPr>
          <p:nvPr>
            <p:ph type="dt" sz="half" idx="10"/>
          </p:nvPr>
        </p:nvSpPr>
        <p:spPr/>
        <p:txBody>
          <a:bodyPr/>
          <a:lstStyle/>
          <a:p>
            <a:fld id="{91BAF6ED-130D-4DB0-9E02-0EA0EDAFEE5C}" type="datetimeFigureOut">
              <a:rPr lang="en-IN" smtClean="0"/>
              <a:t>22-07-2026</a:t>
            </a:fld>
            <a:endParaRPr lang="en-IN"/>
          </a:p>
        </p:txBody>
      </p:sp>
      <p:sp>
        <p:nvSpPr>
          <p:cNvPr id="5" name="Footer Placeholder 4">
            <a:extLst>
              <a:ext uri="{FF2B5EF4-FFF2-40B4-BE49-F238E27FC236}">
                <a16:creationId xmlns:a16="http://schemas.microsoft.com/office/drawing/2014/main" id="{FD9BD8C2-863F-4EB6-AE52-E3B5A3659EC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A19150-7D27-C4B3-F0A3-258DC5BDCE84}"/>
              </a:ext>
            </a:extLst>
          </p:cNvPr>
          <p:cNvSpPr>
            <a:spLocks noGrp="1"/>
          </p:cNvSpPr>
          <p:nvPr>
            <p:ph type="sldNum" sz="quarter" idx="12"/>
          </p:nvPr>
        </p:nvSpPr>
        <p:spPr/>
        <p:txBody>
          <a:bodyPr/>
          <a:lstStyle/>
          <a:p>
            <a:fld id="{47E3DC6C-3630-41E1-8888-AA5151DC7470}" type="slidenum">
              <a:rPr lang="en-IN" smtClean="0"/>
              <a:t>‹#›</a:t>
            </a:fld>
            <a:endParaRPr lang="en-IN"/>
          </a:p>
        </p:txBody>
      </p:sp>
    </p:spTree>
    <p:extLst>
      <p:ext uri="{BB962C8B-B14F-4D97-AF65-F5344CB8AC3E}">
        <p14:creationId xmlns:p14="http://schemas.microsoft.com/office/powerpoint/2010/main" val="634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ED1D8-0802-E8DF-416E-84009B6FB31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2AA8CC9-A71A-4222-20FF-4064D05E0A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6C26222-DB58-8AFB-21C1-FFB421D8BD50}"/>
              </a:ext>
            </a:extLst>
          </p:cNvPr>
          <p:cNvSpPr>
            <a:spLocks noGrp="1"/>
          </p:cNvSpPr>
          <p:nvPr>
            <p:ph type="dt" sz="half" idx="10"/>
          </p:nvPr>
        </p:nvSpPr>
        <p:spPr/>
        <p:txBody>
          <a:bodyPr/>
          <a:lstStyle/>
          <a:p>
            <a:fld id="{91BAF6ED-130D-4DB0-9E02-0EA0EDAFEE5C}" type="datetimeFigureOut">
              <a:rPr lang="en-IN" smtClean="0"/>
              <a:t>22-07-2026</a:t>
            </a:fld>
            <a:endParaRPr lang="en-IN"/>
          </a:p>
        </p:txBody>
      </p:sp>
      <p:sp>
        <p:nvSpPr>
          <p:cNvPr id="5" name="Footer Placeholder 4">
            <a:extLst>
              <a:ext uri="{FF2B5EF4-FFF2-40B4-BE49-F238E27FC236}">
                <a16:creationId xmlns:a16="http://schemas.microsoft.com/office/drawing/2014/main" id="{16471D06-3CBF-55D5-8C66-37A4314C26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08A28C-E968-C293-27C4-BBBCC4106534}"/>
              </a:ext>
            </a:extLst>
          </p:cNvPr>
          <p:cNvSpPr>
            <a:spLocks noGrp="1"/>
          </p:cNvSpPr>
          <p:nvPr>
            <p:ph type="sldNum" sz="quarter" idx="12"/>
          </p:nvPr>
        </p:nvSpPr>
        <p:spPr/>
        <p:txBody>
          <a:bodyPr/>
          <a:lstStyle/>
          <a:p>
            <a:fld id="{47E3DC6C-3630-41E1-8888-AA5151DC7470}" type="slidenum">
              <a:rPr lang="en-IN" smtClean="0"/>
              <a:t>‹#›</a:t>
            </a:fld>
            <a:endParaRPr lang="en-IN"/>
          </a:p>
        </p:txBody>
      </p:sp>
    </p:spTree>
    <p:extLst>
      <p:ext uri="{BB962C8B-B14F-4D97-AF65-F5344CB8AC3E}">
        <p14:creationId xmlns:p14="http://schemas.microsoft.com/office/powerpoint/2010/main" val="2462857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31274-40E9-D07C-BB25-571C3BEFEB6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B1CEC77-F569-66EA-BB1F-8E2C312AAE4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20AF4EC-E500-4BB7-7EF6-EC8E56AF502F}"/>
              </a:ext>
            </a:extLst>
          </p:cNvPr>
          <p:cNvSpPr>
            <a:spLocks noGrp="1"/>
          </p:cNvSpPr>
          <p:nvPr>
            <p:ph type="dt" sz="half" idx="10"/>
          </p:nvPr>
        </p:nvSpPr>
        <p:spPr/>
        <p:txBody>
          <a:bodyPr/>
          <a:lstStyle/>
          <a:p>
            <a:fld id="{91BAF6ED-130D-4DB0-9E02-0EA0EDAFEE5C}" type="datetimeFigureOut">
              <a:rPr lang="en-IN" smtClean="0"/>
              <a:t>22-07-2026</a:t>
            </a:fld>
            <a:endParaRPr lang="en-IN"/>
          </a:p>
        </p:txBody>
      </p:sp>
      <p:sp>
        <p:nvSpPr>
          <p:cNvPr id="5" name="Footer Placeholder 4">
            <a:extLst>
              <a:ext uri="{FF2B5EF4-FFF2-40B4-BE49-F238E27FC236}">
                <a16:creationId xmlns:a16="http://schemas.microsoft.com/office/drawing/2014/main" id="{2774E818-726B-AF16-991A-AC92EC251A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488B668-0E60-3B95-6B55-09106B98AC4D}"/>
              </a:ext>
            </a:extLst>
          </p:cNvPr>
          <p:cNvSpPr>
            <a:spLocks noGrp="1"/>
          </p:cNvSpPr>
          <p:nvPr>
            <p:ph type="sldNum" sz="quarter" idx="12"/>
          </p:nvPr>
        </p:nvSpPr>
        <p:spPr/>
        <p:txBody>
          <a:bodyPr/>
          <a:lstStyle/>
          <a:p>
            <a:fld id="{47E3DC6C-3630-41E1-8888-AA5151DC7470}" type="slidenum">
              <a:rPr lang="en-IN" smtClean="0"/>
              <a:t>‹#›</a:t>
            </a:fld>
            <a:endParaRPr lang="en-IN"/>
          </a:p>
        </p:txBody>
      </p:sp>
    </p:spTree>
    <p:extLst>
      <p:ext uri="{BB962C8B-B14F-4D97-AF65-F5344CB8AC3E}">
        <p14:creationId xmlns:p14="http://schemas.microsoft.com/office/powerpoint/2010/main" val="35865375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40B08-9D0A-2463-A72A-FD6895413FA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2235F49-6698-F304-990D-04083CDE904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D8D5BFF-10BB-6CE3-3464-9CEA9FECC1F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863B4E1-2C12-9746-714D-27964FFD87C3}"/>
              </a:ext>
            </a:extLst>
          </p:cNvPr>
          <p:cNvSpPr>
            <a:spLocks noGrp="1"/>
          </p:cNvSpPr>
          <p:nvPr>
            <p:ph type="dt" sz="half" idx="10"/>
          </p:nvPr>
        </p:nvSpPr>
        <p:spPr/>
        <p:txBody>
          <a:bodyPr/>
          <a:lstStyle/>
          <a:p>
            <a:fld id="{91BAF6ED-130D-4DB0-9E02-0EA0EDAFEE5C}" type="datetimeFigureOut">
              <a:rPr lang="en-IN" smtClean="0"/>
              <a:t>22-07-2026</a:t>
            </a:fld>
            <a:endParaRPr lang="en-IN"/>
          </a:p>
        </p:txBody>
      </p:sp>
      <p:sp>
        <p:nvSpPr>
          <p:cNvPr id="6" name="Footer Placeholder 5">
            <a:extLst>
              <a:ext uri="{FF2B5EF4-FFF2-40B4-BE49-F238E27FC236}">
                <a16:creationId xmlns:a16="http://schemas.microsoft.com/office/drawing/2014/main" id="{15C2D65C-506A-326D-2D0B-24AC69C3476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0B695DD-6688-6E05-46E0-EF0DB94B439A}"/>
              </a:ext>
            </a:extLst>
          </p:cNvPr>
          <p:cNvSpPr>
            <a:spLocks noGrp="1"/>
          </p:cNvSpPr>
          <p:nvPr>
            <p:ph type="sldNum" sz="quarter" idx="12"/>
          </p:nvPr>
        </p:nvSpPr>
        <p:spPr/>
        <p:txBody>
          <a:bodyPr/>
          <a:lstStyle/>
          <a:p>
            <a:fld id="{47E3DC6C-3630-41E1-8888-AA5151DC7470}" type="slidenum">
              <a:rPr lang="en-IN" smtClean="0"/>
              <a:t>‹#›</a:t>
            </a:fld>
            <a:endParaRPr lang="en-IN"/>
          </a:p>
        </p:txBody>
      </p:sp>
    </p:spTree>
    <p:extLst>
      <p:ext uri="{BB962C8B-B14F-4D97-AF65-F5344CB8AC3E}">
        <p14:creationId xmlns:p14="http://schemas.microsoft.com/office/powerpoint/2010/main" val="19282478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5ABFF-85EE-5A81-0E02-4917AE36D4C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1BC0E26-FA6F-DE25-FB0E-1FA9443E59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D72099-6E55-F0E3-B2C9-89F95A4D8E5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33177BA-7787-0CB4-447E-F61ECD0B45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EB96AD6-5967-FEBA-7484-50654B48F21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A792607-D84A-8E54-B756-5CD39BE8EEEF}"/>
              </a:ext>
            </a:extLst>
          </p:cNvPr>
          <p:cNvSpPr>
            <a:spLocks noGrp="1"/>
          </p:cNvSpPr>
          <p:nvPr>
            <p:ph type="dt" sz="half" idx="10"/>
          </p:nvPr>
        </p:nvSpPr>
        <p:spPr/>
        <p:txBody>
          <a:bodyPr/>
          <a:lstStyle/>
          <a:p>
            <a:fld id="{91BAF6ED-130D-4DB0-9E02-0EA0EDAFEE5C}" type="datetimeFigureOut">
              <a:rPr lang="en-IN" smtClean="0"/>
              <a:t>22-07-2026</a:t>
            </a:fld>
            <a:endParaRPr lang="en-IN"/>
          </a:p>
        </p:txBody>
      </p:sp>
      <p:sp>
        <p:nvSpPr>
          <p:cNvPr id="8" name="Footer Placeholder 7">
            <a:extLst>
              <a:ext uri="{FF2B5EF4-FFF2-40B4-BE49-F238E27FC236}">
                <a16:creationId xmlns:a16="http://schemas.microsoft.com/office/drawing/2014/main" id="{235A66BA-148C-348B-77BC-72B1E490681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81FAECB-ED4B-0A25-3D8D-AADB56ECBC87}"/>
              </a:ext>
            </a:extLst>
          </p:cNvPr>
          <p:cNvSpPr>
            <a:spLocks noGrp="1"/>
          </p:cNvSpPr>
          <p:nvPr>
            <p:ph type="sldNum" sz="quarter" idx="12"/>
          </p:nvPr>
        </p:nvSpPr>
        <p:spPr/>
        <p:txBody>
          <a:bodyPr/>
          <a:lstStyle/>
          <a:p>
            <a:fld id="{47E3DC6C-3630-41E1-8888-AA5151DC7470}" type="slidenum">
              <a:rPr lang="en-IN" smtClean="0"/>
              <a:t>‹#›</a:t>
            </a:fld>
            <a:endParaRPr lang="en-IN"/>
          </a:p>
        </p:txBody>
      </p:sp>
    </p:spTree>
    <p:extLst>
      <p:ext uri="{BB962C8B-B14F-4D97-AF65-F5344CB8AC3E}">
        <p14:creationId xmlns:p14="http://schemas.microsoft.com/office/powerpoint/2010/main" val="11732040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4B66C-82D1-9F3A-64B5-D8E94F0493F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9588224-5655-1B9B-0928-167EBDACAF20}"/>
              </a:ext>
            </a:extLst>
          </p:cNvPr>
          <p:cNvSpPr>
            <a:spLocks noGrp="1"/>
          </p:cNvSpPr>
          <p:nvPr>
            <p:ph type="dt" sz="half" idx="10"/>
          </p:nvPr>
        </p:nvSpPr>
        <p:spPr/>
        <p:txBody>
          <a:bodyPr/>
          <a:lstStyle/>
          <a:p>
            <a:fld id="{91BAF6ED-130D-4DB0-9E02-0EA0EDAFEE5C}" type="datetimeFigureOut">
              <a:rPr lang="en-IN" smtClean="0"/>
              <a:t>22-07-2026</a:t>
            </a:fld>
            <a:endParaRPr lang="en-IN"/>
          </a:p>
        </p:txBody>
      </p:sp>
      <p:sp>
        <p:nvSpPr>
          <p:cNvPr id="4" name="Footer Placeholder 3">
            <a:extLst>
              <a:ext uri="{FF2B5EF4-FFF2-40B4-BE49-F238E27FC236}">
                <a16:creationId xmlns:a16="http://schemas.microsoft.com/office/drawing/2014/main" id="{836CE72F-683D-660F-0514-FDF3CAA0AB2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BE9DB28-F3D9-D51F-60D7-2E1A2293B0D9}"/>
              </a:ext>
            </a:extLst>
          </p:cNvPr>
          <p:cNvSpPr>
            <a:spLocks noGrp="1"/>
          </p:cNvSpPr>
          <p:nvPr>
            <p:ph type="sldNum" sz="quarter" idx="12"/>
          </p:nvPr>
        </p:nvSpPr>
        <p:spPr/>
        <p:txBody>
          <a:bodyPr/>
          <a:lstStyle/>
          <a:p>
            <a:fld id="{47E3DC6C-3630-41E1-8888-AA5151DC7470}" type="slidenum">
              <a:rPr lang="en-IN" smtClean="0"/>
              <a:t>‹#›</a:t>
            </a:fld>
            <a:endParaRPr lang="en-IN"/>
          </a:p>
        </p:txBody>
      </p:sp>
    </p:spTree>
    <p:extLst>
      <p:ext uri="{BB962C8B-B14F-4D97-AF65-F5344CB8AC3E}">
        <p14:creationId xmlns:p14="http://schemas.microsoft.com/office/powerpoint/2010/main" val="39732872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6137314-12E0-6E29-5F16-428C50A75E83}"/>
              </a:ext>
            </a:extLst>
          </p:cNvPr>
          <p:cNvSpPr>
            <a:spLocks noGrp="1"/>
          </p:cNvSpPr>
          <p:nvPr>
            <p:ph type="dt" sz="half" idx="10"/>
          </p:nvPr>
        </p:nvSpPr>
        <p:spPr/>
        <p:txBody>
          <a:bodyPr/>
          <a:lstStyle/>
          <a:p>
            <a:fld id="{91BAF6ED-130D-4DB0-9E02-0EA0EDAFEE5C}" type="datetimeFigureOut">
              <a:rPr lang="en-IN" smtClean="0"/>
              <a:t>22-07-2026</a:t>
            </a:fld>
            <a:endParaRPr lang="en-IN"/>
          </a:p>
        </p:txBody>
      </p:sp>
      <p:sp>
        <p:nvSpPr>
          <p:cNvPr id="3" name="Footer Placeholder 2">
            <a:extLst>
              <a:ext uri="{FF2B5EF4-FFF2-40B4-BE49-F238E27FC236}">
                <a16:creationId xmlns:a16="http://schemas.microsoft.com/office/drawing/2014/main" id="{05BA3495-45A3-BF5E-CE36-42EAE623530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9B6C081-2B86-4E00-3E7C-6B19B56FE207}"/>
              </a:ext>
            </a:extLst>
          </p:cNvPr>
          <p:cNvSpPr>
            <a:spLocks noGrp="1"/>
          </p:cNvSpPr>
          <p:nvPr>
            <p:ph type="sldNum" sz="quarter" idx="12"/>
          </p:nvPr>
        </p:nvSpPr>
        <p:spPr/>
        <p:txBody>
          <a:bodyPr/>
          <a:lstStyle/>
          <a:p>
            <a:fld id="{47E3DC6C-3630-41E1-8888-AA5151DC7470}" type="slidenum">
              <a:rPr lang="en-IN" smtClean="0"/>
              <a:t>‹#›</a:t>
            </a:fld>
            <a:endParaRPr lang="en-IN"/>
          </a:p>
        </p:txBody>
      </p:sp>
    </p:spTree>
    <p:extLst>
      <p:ext uri="{BB962C8B-B14F-4D97-AF65-F5344CB8AC3E}">
        <p14:creationId xmlns:p14="http://schemas.microsoft.com/office/powerpoint/2010/main" val="36209306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DBBBF-0DCB-B95E-FEA2-45408AC2C6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11191C6-9E4D-77BB-8581-2B903C31CB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87A0F94-B667-4946-4DA9-EB733EB84A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88FAF2-7C87-70B2-0DB6-C3CBC68B4DB4}"/>
              </a:ext>
            </a:extLst>
          </p:cNvPr>
          <p:cNvSpPr>
            <a:spLocks noGrp="1"/>
          </p:cNvSpPr>
          <p:nvPr>
            <p:ph type="dt" sz="half" idx="10"/>
          </p:nvPr>
        </p:nvSpPr>
        <p:spPr/>
        <p:txBody>
          <a:bodyPr/>
          <a:lstStyle/>
          <a:p>
            <a:fld id="{91BAF6ED-130D-4DB0-9E02-0EA0EDAFEE5C}" type="datetimeFigureOut">
              <a:rPr lang="en-IN" smtClean="0"/>
              <a:t>22-07-2026</a:t>
            </a:fld>
            <a:endParaRPr lang="en-IN"/>
          </a:p>
        </p:txBody>
      </p:sp>
      <p:sp>
        <p:nvSpPr>
          <p:cNvPr id="6" name="Footer Placeholder 5">
            <a:extLst>
              <a:ext uri="{FF2B5EF4-FFF2-40B4-BE49-F238E27FC236}">
                <a16:creationId xmlns:a16="http://schemas.microsoft.com/office/drawing/2014/main" id="{B6D199B2-D637-D9E3-5700-DCFA586A02E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DEE8D78-012E-33A5-5E6F-52EC63367C02}"/>
              </a:ext>
            </a:extLst>
          </p:cNvPr>
          <p:cNvSpPr>
            <a:spLocks noGrp="1"/>
          </p:cNvSpPr>
          <p:nvPr>
            <p:ph type="sldNum" sz="quarter" idx="12"/>
          </p:nvPr>
        </p:nvSpPr>
        <p:spPr/>
        <p:txBody>
          <a:bodyPr/>
          <a:lstStyle/>
          <a:p>
            <a:fld id="{47E3DC6C-3630-41E1-8888-AA5151DC7470}" type="slidenum">
              <a:rPr lang="en-IN" smtClean="0"/>
              <a:t>‹#›</a:t>
            </a:fld>
            <a:endParaRPr lang="en-IN"/>
          </a:p>
        </p:txBody>
      </p:sp>
    </p:spTree>
    <p:extLst>
      <p:ext uri="{BB962C8B-B14F-4D97-AF65-F5344CB8AC3E}">
        <p14:creationId xmlns:p14="http://schemas.microsoft.com/office/powerpoint/2010/main" val="7943250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1DF9C-0AF4-4734-BE32-818E83C4FA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044AF9A-3609-8798-4BA7-52C52A55D1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096A7C2-6EB2-3F47-69CB-5A97600DDF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730E87-C34C-36A8-C00F-72BA0E3BB580}"/>
              </a:ext>
            </a:extLst>
          </p:cNvPr>
          <p:cNvSpPr>
            <a:spLocks noGrp="1"/>
          </p:cNvSpPr>
          <p:nvPr>
            <p:ph type="dt" sz="half" idx="10"/>
          </p:nvPr>
        </p:nvSpPr>
        <p:spPr/>
        <p:txBody>
          <a:bodyPr/>
          <a:lstStyle/>
          <a:p>
            <a:fld id="{91BAF6ED-130D-4DB0-9E02-0EA0EDAFEE5C}" type="datetimeFigureOut">
              <a:rPr lang="en-IN" smtClean="0"/>
              <a:t>22-07-2026</a:t>
            </a:fld>
            <a:endParaRPr lang="en-IN"/>
          </a:p>
        </p:txBody>
      </p:sp>
      <p:sp>
        <p:nvSpPr>
          <p:cNvPr id="6" name="Footer Placeholder 5">
            <a:extLst>
              <a:ext uri="{FF2B5EF4-FFF2-40B4-BE49-F238E27FC236}">
                <a16:creationId xmlns:a16="http://schemas.microsoft.com/office/drawing/2014/main" id="{A20B8233-CEFE-5AF6-7BE1-68A868EC73A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881CAD8-680A-B793-E09D-0606B1E007A6}"/>
              </a:ext>
            </a:extLst>
          </p:cNvPr>
          <p:cNvSpPr>
            <a:spLocks noGrp="1"/>
          </p:cNvSpPr>
          <p:nvPr>
            <p:ph type="sldNum" sz="quarter" idx="12"/>
          </p:nvPr>
        </p:nvSpPr>
        <p:spPr/>
        <p:txBody>
          <a:bodyPr/>
          <a:lstStyle/>
          <a:p>
            <a:fld id="{47E3DC6C-3630-41E1-8888-AA5151DC7470}" type="slidenum">
              <a:rPr lang="en-IN" smtClean="0"/>
              <a:t>‹#›</a:t>
            </a:fld>
            <a:endParaRPr lang="en-IN"/>
          </a:p>
        </p:txBody>
      </p:sp>
    </p:spTree>
    <p:extLst>
      <p:ext uri="{BB962C8B-B14F-4D97-AF65-F5344CB8AC3E}">
        <p14:creationId xmlns:p14="http://schemas.microsoft.com/office/powerpoint/2010/main" val="2994058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37C2C-4E32-A630-F3FA-5D07900A255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7190121-2DDA-A67A-129B-E161805CC6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5BE6F59-B350-6B0F-1CAE-0E63319326A8}"/>
              </a:ext>
            </a:extLst>
          </p:cNvPr>
          <p:cNvSpPr>
            <a:spLocks noGrp="1"/>
          </p:cNvSpPr>
          <p:nvPr>
            <p:ph type="dt" sz="half" idx="10"/>
          </p:nvPr>
        </p:nvSpPr>
        <p:spPr/>
        <p:txBody>
          <a:bodyPr/>
          <a:lstStyle/>
          <a:p>
            <a:fld id="{91BAF6ED-130D-4DB0-9E02-0EA0EDAFEE5C}" type="datetimeFigureOut">
              <a:rPr lang="en-IN" smtClean="0"/>
              <a:t>22-07-2026</a:t>
            </a:fld>
            <a:endParaRPr lang="en-IN"/>
          </a:p>
        </p:txBody>
      </p:sp>
      <p:sp>
        <p:nvSpPr>
          <p:cNvPr id="5" name="Footer Placeholder 4">
            <a:extLst>
              <a:ext uri="{FF2B5EF4-FFF2-40B4-BE49-F238E27FC236}">
                <a16:creationId xmlns:a16="http://schemas.microsoft.com/office/drawing/2014/main" id="{E35F1655-5FB1-FDB8-3034-344B930B59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BCD497-1238-08E8-EC44-888749ACAA42}"/>
              </a:ext>
            </a:extLst>
          </p:cNvPr>
          <p:cNvSpPr>
            <a:spLocks noGrp="1"/>
          </p:cNvSpPr>
          <p:nvPr>
            <p:ph type="sldNum" sz="quarter" idx="12"/>
          </p:nvPr>
        </p:nvSpPr>
        <p:spPr/>
        <p:txBody>
          <a:bodyPr/>
          <a:lstStyle/>
          <a:p>
            <a:fld id="{47E3DC6C-3630-41E1-8888-AA5151DC7470}" type="slidenum">
              <a:rPr lang="en-IN" smtClean="0"/>
              <a:t>‹#›</a:t>
            </a:fld>
            <a:endParaRPr lang="en-IN"/>
          </a:p>
        </p:txBody>
      </p:sp>
    </p:spTree>
    <p:extLst>
      <p:ext uri="{BB962C8B-B14F-4D97-AF65-F5344CB8AC3E}">
        <p14:creationId xmlns:p14="http://schemas.microsoft.com/office/powerpoint/2010/main" val="27620587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75EDB17-90A7-FCF8-207C-A4E8EE2DE9C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8E39CE3-8B91-6434-D40F-FAB8275756A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650EB73-DA96-48FA-95C7-7769410F75F1}"/>
              </a:ext>
            </a:extLst>
          </p:cNvPr>
          <p:cNvSpPr>
            <a:spLocks noGrp="1"/>
          </p:cNvSpPr>
          <p:nvPr>
            <p:ph type="dt" sz="half" idx="10"/>
          </p:nvPr>
        </p:nvSpPr>
        <p:spPr/>
        <p:txBody>
          <a:bodyPr/>
          <a:lstStyle/>
          <a:p>
            <a:fld id="{91BAF6ED-130D-4DB0-9E02-0EA0EDAFEE5C}" type="datetimeFigureOut">
              <a:rPr lang="en-IN" smtClean="0"/>
              <a:t>22-07-2026</a:t>
            </a:fld>
            <a:endParaRPr lang="en-IN"/>
          </a:p>
        </p:txBody>
      </p:sp>
      <p:sp>
        <p:nvSpPr>
          <p:cNvPr id="5" name="Footer Placeholder 4">
            <a:extLst>
              <a:ext uri="{FF2B5EF4-FFF2-40B4-BE49-F238E27FC236}">
                <a16:creationId xmlns:a16="http://schemas.microsoft.com/office/drawing/2014/main" id="{E83CA585-E546-A2E1-E6A8-D0BCAAA9F2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255E46-F98F-2AEB-B7A9-48F958ECBD8E}"/>
              </a:ext>
            </a:extLst>
          </p:cNvPr>
          <p:cNvSpPr>
            <a:spLocks noGrp="1"/>
          </p:cNvSpPr>
          <p:nvPr>
            <p:ph type="sldNum" sz="quarter" idx="12"/>
          </p:nvPr>
        </p:nvSpPr>
        <p:spPr/>
        <p:txBody>
          <a:bodyPr/>
          <a:lstStyle/>
          <a:p>
            <a:fld id="{47E3DC6C-3630-41E1-8888-AA5151DC7470}" type="slidenum">
              <a:rPr lang="en-IN" smtClean="0"/>
              <a:t>‹#›</a:t>
            </a:fld>
            <a:endParaRPr lang="en-IN"/>
          </a:p>
        </p:txBody>
      </p:sp>
    </p:spTree>
    <p:extLst>
      <p:ext uri="{BB962C8B-B14F-4D97-AF65-F5344CB8AC3E}">
        <p14:creationId xmlns:p14="http://schemas.microsoft.com/office/powerpoint/2010/main" val="10950950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2F18E8F-0656-964F-DEE6-366D32B6C6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8EA5C2B-B92F-E96E-E147-AE8D0E7ED6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685C2D6-66EF-7C0E-3506-CFD8E2CDEF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1BAF6ED-130D-4DB0-9E02-0EA0EDAFEE5C}" type="datetimeFigureOut">
              <a:rPr lang="en-IN" smtClean="0"/>
              <a:t>22-07-2026</a:t>
            </a:fld>
            <a:endParaRPr lang="en-IN"/>
          </a:p>
        </p:txBody>
      </p:sp>
      <p:sp>
        <p:nvSpPr>
          <p:cNvPr id="5" name="Footer Placeholder 4">
            <a:extLst>
              <a:ext uri="{FF2B5EF4-FFF2-40B4-BE49-F238E27FC236}">
                <a16:creationId xmlns:a16="http://schemas.microsoft.com/office/drawing/2014/main" id="{B28090E8-4753-464E-51E3-02EB0323BC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F16AD4EB-9D29-D693-27C7-AF481AB6430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7E3DC6C-3630-41E1-8888-AA5151DC7470}" type="slidenum">
              <a:rPr lang="en-IN" smtClean="0"/>
              <a:t>‹#›</a:t>
            </a:fld>
            <a:endParaRPr lang="en-IN"/>
          </a:p>
        </p:txBody>
      </p:sp>
    </p:spTree>
    <p:extLst>
      <p:ext uri="{BB962C8B-B14F-4D97-AF65-F5344CB8AC3E}">
        <p14:creationId xmlns:p14="http://schemas.microsoft.com/office/powerpoint/2010/main" val="19525157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colab.research.google.com/"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E7FDD7B-DAC0-06EE-C365-1C060DC2B1AB}"/>
              </a:ext>
            </a:extLst>
          </p:cNvPr>
          <p:cNvSpPr txBox="1"/>
          <p:nvPr/>
        </p:nvSpPr>
        <p:spPr>
          <a:xfrm>
            <a:off x="3000532" y="4767386"/>
            <a:ext cx="6190936" cy="181588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i="0" u="none" strike="noStrike" kern="1200" cap="none" spc="0" normalizeH="0" baseline="0" noProof="0" dirty="0">
                <a:ln>
                  <a:noFill/>
                </a:ln>
                <a:solidFill>
                  <a:srgbClr val="BA2055"/>
                </a:solidFill>
                <a:effectLst/>
                <a:uLnTx/>
                <a:uFillTx/>
                <a:latin typeface="Montserrat Bold" panose="00000800000000000000" pitchFamily="2" charset="0"/>
                <a:cs typeface="Aldhabi" panose="020F0502020204030204" pitchFamily="2" charset="-78"/>
              </a:rPr>
              <a:t>INTRODUCTION</a:t>
            </a:r>
            <a:r>
              <a:rPr kumimoji="0" lang="en-US" sz="4000" i="0" u="none" strike="noStrike" kern="1200" cap="none" spc="0" normalizeH="0" baseline="0" noProof="0" dirty="0">
                <a:ln>
                  <a:noFill/>
                </a:ln>
                <a:solidFill>
                  <a:prstClr val="black"/>
                </a:solidFill>
                <a:effectLst/>
                <a:uLnTx/>
                <a:uFillTx/>
                <a:latin typeface="Montserrat" panose="00000500000000000000" pitchFamily="2" charset="0"/>
                <a:cs typeface="Aldhabi" panose="020F0502020204030204" pitchFamily="2" charset="-78"/>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i="0" u="none" strike="noStrike" kern="1200" cap="none" spc="0" normalizeH="0" baseline="0" noProof="0" dirty="0">
                <a:ln>
                  <a:noFill/>
                </a:ln>
                <a:solidFill>
                  <a:prstClr val="black"/>
                </a:solidFill>
                <a:effectLst/>
                <a:uLnTx/>
                <a:uFillTx/>
                <a:latin typeface="Montserrat" panose="00000500000000000000" pitchFamily="2" charset="0"/>
                <a:cs typeface="Aldhabi" panose="020F0502020204030204" pitchFamily="2" charset="-78"/>
              </a:rPr>
              <a:t>FOR NEW EMPLOYEES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000" i="0" u="none" strike="noStrike" kern="1200" cap="none" spc="0" normalizeH="0" baseline="0" noProof="0" dirty="0">
              <a:ln>
                <a:noFill/>
              </a:ln>
              <a:solidFill>
                <a:prstClr val="black"/>
              </a:solidFill>
              <a:effectLst/>
              <a:uLnTx/>
              <a:uFillTx/>
              <a:latin typeface="Montserrat" panose="00000500000000000000" pitchFamily="2" charset="0"/>
              <a:cs typeface="Aldhabi" panose="020F0502020204030204" pitchFamily="2" charset="-78"/>
            </a:endParaRPr>
          </a:p>
        </p:txBody>
      </p:sp>
      <p:pic>
        <p:nvPicPr>
          <p:cNvPr id="3" name="Picture 2" descr="A red and blue squares&#10;&#10;AI-generated content may be incorrect.">
            <a:extLst>
              <a:ext uri="{FF2B5EF4-FFF2-40B4-BE49-F238E27FC236}">
                <a16:creationId xmlns:a16="http://schemas.microsoft.com/office/drawing/2014/main" id="{26207B97-1839-5C76-A573-ECF74A07FE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C0D03CB-17FC-185C-955D-4CC01AE9A08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44094" y="754421"/>
            <a:ext cx="3602743" cy="611082"/>
          </a:xfrm>
          <a:prstGeom prst="rect">
            <a:avLst/>
          </a:prstGeom>
        </p:spPr>
      </p:pic>
      <p:sp>
        <p:nvSpPr>
          <p:cNvPr id="5" name="TextBox 4">
            <a:extLst>
              <a:ext uri="{FF2B5EF4-FFF2-40B4-BE49-F238E27FC236}">
                <a16:creationId xmlns:a16="http://schemas.microsoft.com/office/drawing/2014/main" id="{7B5A7726-FFA3-9B78-F6C3-C349504A24B8}"/>
              </a:ext>
            </a:extLst>
          </p:cNvPr>
          <p:cNvSpPr txBox="1"/>
          <p:nvPr/>
        </p:nvSpPr>
        <p:spPr>
          <a:xfrm>
            <a:off x="491811" y="2218925"/>
            <a:ext cx="9478100" cy="3272691"/>
          </a:xfrm>
          <a:prstGeom prst="rect">
            <a:avLst/>
          </a:prstGeom>
          <a:noFill/>
        </p:spPr>
        <p:txBody>
          <a:bodyPr wrap="square">
            <a:spAutoFit/>
          </a:bodyPr>
          <a:lstStyle/>
          <a:p>
            <a:pPr lvl="0">
              <a:lnSpc>
                <a:spcPts val="4000"/>
              </a:lnSpc>
              <a:defRPr/>
            </a:pPr>
            <a:r>
              <a:rPr lang="en-IN" sz="4000" b="1" dirty="0">
                <a:solidFill>
                  <a:srgbClr val="BA2055"/>
                </a:solidFill>
                <a:latin typeface="Montserrat" panose="00000500000000000000" pitchFamily="2" charset="0"/>
              </a:rPr>
              <a:t>21CSA699A – Major Project</a:t>
            </a:r>
          </a:p>
          <a:p>
            <a:pPr lvl="0">
              <a:lnSpc>
                <a:spcPts val="4000"/>
              </a:lnSpc>
              <a:defRPr/>
            </a:pPr>
            <a:endParaRPr lang="en-IN" sz="4000" b="1" dirty="0">
              <a:solidFill>
                <a:srgbClr val="BA2055"/>
              </a:solidFill>
              <a:latin typeface="Montserrat" panose="00000500000000000000" pitchFamily="2" charset="0"/>
            </a:endParaRPr>
          </a:p>
          <a:p>
            <a:pPr lvl="0">
              <a:lnSpc>
                <a:spcPts val="4000"/>
              </a:lnSpc>
              <a:defRPr/>
            </a:pPr>
            <a:endParaRPr lang="en-IN" sz="4000" b="1" dirty="0">
              <a:solidFill>
                <a:srgbClr val="BA2055"/>
              </a:solidFill>
              <a:latin typeface="Montserrat" panose="00000500000000000000" pitchFamily="2" charset="0"/>
            </a:endParaRPr>
          </a:p>
          <a:p>
            <a:pPr lvl="0">
              <a:lnSpc>
                <a:spcPts val="4000"/>
              </a:lnSpc>
              <a:defRPr/>
            </a:pPr>
            <a:r>
              <a:rPr lang="en-IN" sz="3600" b="1" i="1" dirty="0">
                <a:solidFill>
                  <a:srgbClr val="A81C4B"/>
                </a:solidFill>
                <a:latin typeface="Futura Bk BT"/>
              </a:rPr>
              <a:t>DATE : </a:t>
            </a:r>
          </a:p>
          <a:p>
            <a:pPr lvl="0" algn="ctr">
              <a:lnSpc>
                <a:spcPts val="4000"/>
              </a:lnSpc>
              <a:defRPr/>
            </a:pPr>
            <a:endParaRPr lang="en-IN" sz="3600" b="1" i="1" dirty="0">
              <a:solidFill>
                <a:srgbClr val="A81C4B"/>
              </a:solidFill>
              <a:latin typeface="Futura Bk BT"/>
            </a:endParaRP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4000" i="0" u="none" strike="noStrike" kern="1200" cap="none" spc="0" normalizeH="0" baseline="0" noProof="0" dirty="0">
              <a:ln>
                <a:noFill/>
              </a:ln>
              <a:solidFill>
                <a:prstClr val="black"/>
              </a:solidFill>
              <a:effectLst/>
              <a:uLnTx/>
              <a:uFillTx/>
              <a:latin typeface="Montserrat" panose="00000500000000000000" pitchFamily="2" charset="0"/>
              <a:cs typeface="Aldhabi" panose="020F0502020204030204" pitchFamily="2" charset="-78"/>
            </a:endParaRPr>
          </a:p>
        </p:txBody>
      </p:sp>
    </p:spTree>
    <p:extLst>
      <p:ext uri="{BB962C8B-B14F-4D97-AF65-F5344CB8AC3E}">
        <p14:creationId xmlns:p14="http://schemas.microsoft.com/office/powerpoint/2010/main" val="33118370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0EC285-9A8C-31C9-ECE7-DB47B5C91562}"/>
              </a:ext>
            </a:extLst>
          </p:cNvPr>
          <p:cNvSpPr>
            <a:spLocks noGrp="1"/>
          </p:cNvSpPr>
          <p:nvPr>
            <p:ph idx="1"/>
          </p:nvPr>
        </p:nvSpPr>
        <p:spPr/>
        <p:txBody>
          <a:bodyPr vert="horz" lIns="91440" tIns="45720" rIns="91440" bIns="45720" rtlCol="0" anchor="t">
            <a:normAutofit/>
          </a:bodyPr>
          <a:lstStyle/>
          <a:p>
            <a:pPr marL="0" indent="0">
              <a:buNone/>
            </a:pPr>
            <a:endParaRPr lang="en-US" b="1" dirty="0"/>
          </a:p>
          <a:p>
            <a:r>
              <a:rPr lang="en-US" b="1" dirty="0"/>
              <a:t>Project Title: Email Spam detection </a:t>
            </a:r>
          </a:p>
          <a:p>
            <a:r>
              <a:rPr lang="en-US" b="1" dirty="0"/>
              <a:t>Student Name: Bonthu Pavani Karthikeyi</a:t>
            </a:r>
          </a:p>
          <a:p>
            <a:r>
              <a:rPr lang="en-US" b="1" dirty="0"/>
              <a:t>Register Number: AA.SC.P2MCA24074057</a:t>
            </a:r>
          </a:p>
          <a:p>
            <a:r>
              <a:rPr lang="en-US" b="1" dirty="0"/>
              <a:t>Program :MCA-AI</a:t>
            </a:r>
          </a:p>
          <a:p>
            <a:r>
              <a:rPr lang="en-US" b="1" dirty="0"/>
              <a:t>Semester :4</a:t>
            </a:r>
          </a:p>
          <a:p>
            <a:r>
              <a:rPr lang="en-US" b="1" dirty="0"/>
              <a:t>Department &amp; Institution</a:t>
            </a:r>
            <a:r>
              <a:rPr lang="en-US" b="1" dirty="0">
                <a:sym typeface="Wingdings" panose="05000000000000000000" pitchFamily="2" charset="2"/>
              </a:rPr>
              <a:t>:[</a:t>
            </a:r>
            <a:r>
              <a:rPr lang="en-US" b="1" dirty="0"/>
              <a:t>Department of Computer Application] Amrita Vishwa Vidyapeetham </a:t>
            </a:r>
          </a:p>
          <a:p>
            <a:pPr marL="0" indent="0">
              <a:buNone/>
            </a:pPr>
            <a:endParaRPr lang="en-IN" dirty="0"/>
          </a:p>
        </p:txBody>
      </p:sp>
      <p:pic>
        <p:nvPicPr>
          <p:cNvPr id="4" name="Picture 3">
            <a:extLst>
              <a:ext uri="{FF2B5EF4-FFF2-40B4-BE49-F238E27FC236}">
                <a16:creationId xmlns:a16="http://schemas.microsoft.com/office/drawing/2014/main" id="{B137EB2B-C6CE-8E3C-43AC-81894D4F6B3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44094" y="754421"/>
            <a:ext cx="3602743" cy="611082"/>
          </a:xfrm>
          <a:prstGeom prst="rect">
            <a:avLst/>
          </a:prstGeom>
        </p:spPr>
      </p:pic>
    </p:spTree>
    <p:extLst>
      <p:ext uri="{BB962C8B-B14F-4D97-AF65-F5344CB8AC3E}">
        <p14:creationId xmlns:p14="http://schemas.microsoft.com/office/powerpoint/2010/main" val="22174907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A2287-788A-BFB8-9118-3B8580B7E4DF}"/>
              </a:ext>
            </a:extLst>
          </p:cNvPr>
          <p:cNvSpPr>
            <a:spLocks noGrp="1"/>
          </p:cNvSpPr>
          <p:nvPr>
            <p:ph type="title"/>
          </p:nvPr>
        </p:nvSpPr>
        <p:spPr/>
        <p:txBody>
          <a:bodyPr/>
          <a:lstStyle/>
          <a:p>
            <a:r>
              <a:rPr lang="en-GB" b="1">
                <a:solidFill>
                  <a:srgbClr val="2D465B"/>
                </a:solidFill>
              </a:rPr>
              <a:t>Introduction</a:t>
            </a:r>
            <a:endParaRPr lang="en-US"/>
          </a:p>
        </p:txBody>
      </p:sp>
      <p:sp>
        <p:nvSpPr>
          <p:cNvPr id="3" name="Content Placeholder 2">
            <a:extLst>
              <a:ext uri="{FF2B5EF4-FFF2-40B4-BE49-F238E27FC236}">
                <a16:creationId xmlns:a16="http://schemas.microsoft.com/office/drawing/2014/main" id="{296D93AB-81A6-E81B-C195-FC83E874AC43}"/>
              </a:ext>
            </a:extLst>
          </p:cNvPr>
          <p:cNvSpPr>
            <a:spLocks noGrp="1"/>
          </p:cNvSpPr>
          <p:nvPr>
            <p:ph idx="1"/>
          </p:nvPr>
        </p:nvSpPr>
        <p:spPr>
          <a:xfrm>
            <a:off x="838200" y="1299990"/>
            <a:ext cx="10515600" cy="4876973"/>
          </a:xfrm>
        </p:spPr>
        <p:txBody>
          <a:bodyPr vert="horz" lIns="91440" tIns="45720" rIns="91440" bIns="45720" rtlCol="0" anchor="t">
            <a:normAutofit fontScale="92500" lnSpcReduction="10000"/>
          </a:bodyPr>
          <a:lstStyle/>
          <a:p>
            <a:pPr marL="0" indent="0">
              <a:buNone/>
            </a:pPr>
            <a:endParaRPr lang="en-US" b="1" dirty="0"/>
          </a:p>
          <a:p>
            <a:r>
              <a:rPr lang="en-US" b="1" dirty="0">
                <a:ea typeface="+mn-lt"/>
                <a:cs typeface="+mn-lt"/>
              </a:rPr>
              <a:t>Brief background of the domain</a:t>
            </a:r>
            <a:r>
              <a:rPr lang="en-US" dirty="0">
                <a:ea typeface="+mn-lt"/>
                <a:cs typeface="+mn-lt"/>
              </a:rPr>
              <a:t>: </a:t>
            </a:r>
            <a:r>
              <a:rPr lang="en-US" sz="2300" dirty="0"/>
              <a:t>Email is one of the most popular communication methods used by individuals, businesses, and educational institutions. As the number of email users has increased, spam emails have also grown rapidly. These spam emails often contain advertisements, fake offers, phishing links, or harmful content. Manually identifying spam emails is difficult and time-consuming. Machine Learning helps automatically detect and classify emails as </a:t>
            </a:r>
            <a:r>
              <a:rPr lang="en-US" sz="2300" b="1" dirty="0"/>
              <a:t>Spam</a:t>
            </a:r>
            <a:r>
              <a:rPr lang="en-US" sz="2300" dirty="0"/>
              <a:t> or </a:t>
            </a:r>
            <a:r>
              <a:rPr lang="en-US" sz="2300" b="1" dirty="0"/>
              <a:t>Ham (legitimate)</a:t>
            </a:r>
            <a:r>
              <a:rPr lang="en-US" sz="2300" dirty="0"/>
              <a:t>, making email communication safer and more efficient</a:t>
            </a:r>
            <a:r>
              <a:rPr lang="en-US" sz="1800" dirty="0"/>
              <a:t>.</a:t>
            </a:r>
          </a:p>
          <a:p>
            <a:pPr lvl="0" eaLnBrk="0" fontAlgn="base" hangingPunct="0">
              <a:lnSpc>
                <a:spcPct val="100000"/>
              </a:lnSpc>
              <a:spcBef>
                <a:spcPct val="0"/>
              </a:spcBef>
              <a:spcAft>
                <a:spcPct val="0"/>
              </a:spcAft>
            </a:pPr>
            <a:r>
              <a:rPr lang="en-US" b="1" dirty="0">
                <a:ea typeface="+mn-lt"/>
                <a:cs typeface="+mn-lt"/>
              </a:rPr>
              <a:t>Motivation for choosing the project: </a:t>
            </a:r>
            <a:r>
              <a:rPr lang="en-US" altLang="en-US" sz="2300" dirty="0">
                <a:latin typeface="Arial" panose="020B0604020202020204" pitchFamily="34" charset="0"/>
              </a:rPr>
              <a:t>Email spam is increasing every day and causes security and privacy issues. </a:t>
            </a:r>
          </a:p>
          <a:p>
            <a:pPr marL="285750" lvl="0" indent="-285750" eaLnBrk="0" fontAlgn="base" hangingPunct="0">
              <a:lnSpc>
                <a:spcPct val="100000"/>
              </a:lnSpc>
              <a:spcBef>
                <a:spcPct val="0"/>
              </a:spcBef>
              <a:spcAft>
                <a:spcPct val="0"/>
              </a:spcAft>
              <a:buFont typeface="Wingdings" panose="05000000000000000000" pitchFamily="2" charset="2"/>
              <a:buChar char="Ø"/>
            </a:pPr>
            <a:r>
              <a:rPr lang="en-US" altLang="en-US" sz="2300" dirty="0">
                <a:latin typeface="Arial" panose="020B0604020202020204" pitchFamily="34" charset="0"/>
              </a:rPr>
              <a:t>Manual filtering of spam emails is time-consuming and not always accurate. </a:t>
            </a:r>
          </a:p>
          <a:p>
            <a:pPr marL="285750" lvl="0" indent="-285750" eaLnBrk="0" fontAlgn="base" hangingPunct="0">
              <a:lnSpc>
                <a:spcPct val="100000"/>
              </a:lnSpc>
              <a:spcBef>
                <a:spcPct val="0"/>
              </a:spcBef>
              <a:spcAft>
                <a:spcPct val="0"/>
              </a:spcAft>
              <a:buFont typeface="Wingdings" panose="05000000000000000000" pitchFamily="2" charset="2"/>
              <a:buChar char="Ø"/>
            </a:pPr>
            <a:r>
              <a:rPr lang="en-US" altLang="en-US" sz="2300" dirty="0">
                <a:latin typeface="Arial" panose="020B0604020202020204" pitchFamily="34" charset="0"/>
              </a:rPr>
              <a:t>Machine Learning provides a smart and automatic way to detect spam emails. </a:t>
            </a:r>
          </a:p>
          <a:p>
            <a:pPr marL="285750" lvl="0" indent="-285750" eaLnBrk="0" fontAlgn="base" hangingPunct="0">
              <a:lnSpc>
                <a:spcPct val="100000"/>
              </a:lnSpc>
              <a:spcBef>
                <a:spcPct val="0"/>
              </a:spcBef>
              <a:spcAft>
                <a:spcPct val="0"/>
              </a:spcAft>
              <a:buFont typeface="Wingdings" panose="05000000000000000000" pitchFamily="2" charset="2"/>
              <a:buChar char="Ø"/>
            </a:pPr>
            <a:r>
              <a:rPr lang="en-US" altLang="en-US" sz="2300" dirty="0">
                <a:latin typeface="Arial" panose="020B0604020202020204" pitchFamily="34" charset="0"/>
              </a:rPr>
              <a:t>This project helped me learn practical concepts of Machine Learning, Natural Language Processing (NLP), and text classification while</a:t>
            </a:r>
            <a:r>
              <a:rPr lang="en-US" altLang="en-US" sz="2600" dirty="0">
                <a:latin typeface="Arial" panose="020B0604020202020204" pitchFamily="34" charset="0"/>
              </a:rPr>
              <a:t> </a:t>
            </a:r>
            <a:r>
              <a:rPr lang="en-US" altLang="en-US" sz="2300" dirty="0">
                <a:latin typeface="Arial" panose="020B0604020202020204" pitchFamily="34" charset="0"/>
              </a:rPr>
              <a:t>solving a real-world problem. </a:t>
            </a:r>
          </a:p>
          <a:p>
            <a:pPr marL="0" indent="0">
              <a:buNone/>
            </a:pPr>
            <a:endParaRPr lang="en-US" b="1" dirty="0">
              <a:ea typeface="+mn-lt"/>
              <a:cs typeface="+mn-lt"/>
            </a:endParaRPr>
          </a:p>
          <a:p>
            <a:endParaRPr lang="en-US" b="1" dirty="0"/>
          </a:p>
          <a:p>
            <a:pPr marL="0" indent="0">
              <a:buNone/>
            </a:pPr>
            <a:endParaRPr lang="en-US" b="1" dirty="0"/>
          </a:p>
          <a:p>
            <a:endParaRPr lang="en-US" dirty="0"/>
          </a:p>
        </p:txBody>
      </p:sp>
    </p:spTree>
    <p:extLst>
      <p:ext uri="{BB962C8B-B14F-4D97-AF65-F5344CB8AC3E}">
        <p14:creationId xmlns:p14="http://schemas.microsoft.com/office/powerpoint/2010/main" val="21709247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2D5EC271-0B3E-09F4-D8B8-47A79BE4BFEE}"/>
              </a:ext>
            </a:extLst>
          </p:cNvPr>
          <p:cNvSpPr>
            <a:spLocks noChangeArrowheads="1"/>
          </p:cNvSpPr>
          <p:nvPr/>
        </p:nvSpPr>
        <p:spPr bwMode="auto">
          <a:xfrm>
            <a:off x="421758" y="2796401"/>
            <a:ext cx="11855302"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endParaRPr lang="en-US" sz="2800" b="1" dirty="0">
              <a:ea typeface="+mn-lt"/>
              <a:cs typeface="+mn-lt"/>
            </a:endParaRPr>
          </a:p>
          <a:p>
            <a:pPr lvl="0" eaLnBrk="0" fontAlgn="base" hangingPunct="0">
              <a:spcBef>
                <a:spcPct val="0"/>
              </a:spcBef>
              <a:spcAft>
                <a:spcPct val="0"/>
              </a:spcAft>
            </a:pPr>
            <a:endParaRPr lang="en-US" sz="2800" b="1" dirty="0">
              <a:ea typeface="+mn-lt"/>
              <a:cs typeface="+mn-lt"/>
            </a:endParaRPr>
          </a:p>
          <a:p>
            <a:pPr lvl="0" eaLnBrk="0" fontAlgn="base" hangingPunct="0">
              <a:spcBef>
                <a:spcPct val="0"/>
              </a:spcBef>
              <a:spcAft>
                <a:spcPct val="0"/>
              </a:spcAf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6">
            <a:extLst>
              <a:ext uri="{FF2B5EF4-FFF2-40B4-BE49-F238E27FC236}">
                <a16:creationId xmlns:a16="http://schemas.microsoft.com/office/drawing/2014/main" id="{DAA22D70-7C6A-9BEC-4A69-515DF55BA20A}"/>
              </a:ext>
            </a:extLst>
          </p:cNvPr>
          <p:cNvSpPr>
            <a:spLocks noChangeArrowheads="1"/>
          </p:cNvSpPr>
          <p:nvPr/>
        </p:nvSpPr>
        <p:spPr bwMode="auto">
          <a:xfrm>
            <a:off x="306572" y="259671"/>
            <a:ext cx="11578856"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eaLnBrk="0" fontAlgn="base" hangingPunct="0">
              <a:spcBef>
                <a:spcPct val="0"/>
              </a:spcBef>
              <a:spcAft>
                <a:spcPct val="0"/>
              </a:spcAft>
              <a:buFont typeface="Arial" panose="020B0604020202020204" pitchFamily="34" charset="0"/>
              <a:buChar char="•"/>
            </a:pPr>
            <a:r>
              <a:rPr lang="en-US" sz="2400" b="1" dirty="0"/>
              <a:t>Real-world relevance :</a:t>
            </a:r>
            <a:endParaRPr kumimoji="0" lang="en-US" altLang="en-US" sz="2400" b="1"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rPr>
              <a:t>Email services like </a:t>
            </a:r>
            <a:r>
              <a:rPr kumimoji="0" lang="en-US" altLang="en-US" sz="2400" b="1" i="0" u="none" strike="noStrike" cap="none" normalizeH="0" baseline="0" dirty="0">
                <a:ln>
                  <a:noFill/>
                </a:ln>
                <a:solidFill>
                  <a:schemeClr val="tx1"/>
                </a:solidFill>
                <a:effectLst/>
                <a:latin typeface="Arial" panose="020B0604020202020204" pitchFamily="34" charset="0"/>
              </a:rPr>
              <a:t>Gmail</a:t>
            </a:r>
            <a:r>
              <a:rPr kumimoji="0" lang="en-US" altLang="en-US" sz="2400" b="0" i="0" u="none" strike="noStrike" cap="none" normalizeH="0" baseline="0" dirty="0">
                <a:ln>
                  <a:noFill/>
                </a:ln>
                <a:solidFill>
                  <a:schemeClr val="tx1"/>
                </a:solidFill>
                <a:effectLst/>
                <a:latin typeface="Arial" panose="020B0604020202020204" pitchFamily="34" charset="0"/>
              </a:rPr>
              <a:t> and </a:t>
            </a:r>
            <a:r>
              <a:rPr kumimoji="0" lang="en-US" altLang="en-US" sz="2400" b="1" i="0" u="none" strike="noStrike" cap="none" normalizeH="0" baseline="0" dirty="0">
                <a:ln>
                  <a:noFill/>
                </a:ln>
                <a:solidFill>
                  <a:schemeClr val="tx1"/>
                </a:solidFill>
                <a:effectLst/>
                <a:latin typeface="Arial" panose="020B0604020202020204" pitchFamily="34" charset="0"/>
              </a:rPr>
              <a:t>Outlook</a:t>
            </a:r>
            <a:r>
              <a:rPr kumimoji="0" lang="en-US" altLang="en-US" sz="2400" b="0" i="0" u="none" strike="noStrike" cap="none" normalizeH="0" baseline="0" dirty="0">
                <a:ln>
                  <a:noFill/>
                </a:ln>
                <a:solidFill>
                  <a:schemeClr val="tx1"/>
                </a:solidFill>
                <a:effectLst/>
                <a:latin typeface="Arial" panose="020B0604020202020204" pitchFamily="34" charset="0"/>
              </a:rPr>
              <a:t> use spam detection systems to protect users from unwanted emails.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rPr>
              <a:t>It helps prevent </a:t>
            </a:r>
            <a:r>
              <a:rPr kumimoji="0" lang="en-US" altLang="en-US" sz="2400" b="1" i="0" u="none" strike="noStrike" cap="none" normalizeH="0" baseline="0" dirty="0">
                <a:ln>
                  <a:noFill/>
                </a:ln>
                <a:solidFill>
                  <a:schemeClr val="tx1"/>
                </a:solidFill>
                <a:effectLst/>
                <a:latin typeface="Arial" panose="020B0604020202020204" pitchFamily="34" charset="0"/>
              </a:rPr>
              <a:t>phishing attacks</a:t>
            </a:r>
            <a:r>
              <a:rPr kumimoji="0" lang="en-US" altLang="en-US" sz="2400" b="0" i="0" u="none" strike="noStrike" cap="none" normalizeH="0" baseline="0" dirty="0">
                <a:ln>
                  <a:noFill/>
                </a:ln>
                <a:solidFill>
                  <a:schemeClr val="tx1"/>
                </a:solidFill>
                <a:effectLst/>
                <a:latin typeface="Arial" panose="020B0604020202020204" pitchFamily="34" charset="0"/>
              </a:rPr>
              <a:t>, fake offers, and fraudulent emails, improving online security.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rPr>
              <a:t>Organizations can automatically filter spam emails, saving time and increasing productivity.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rPr>
              <a:t>The same Machine Learning techniques can also be used in other text classification applications, such as </a:t>
            </a:r>
            <a:r>
              <a:rPr kumimoji="0" lang="en-US" altLang="en-US" sz="2400" b="1" i="0" u="none" strike="noStrike" cap="none" normalizeH="0" baseline="0" dirty="0">
                <a:ln>
                  <a:noFill/>
                </a:ln>
                <a:solidFill>
                  <a:schemeClr val="tx1"/>
                </a:solidFill>
                <a:effectLst/>
                <a:latin typeface="Arial" panose="020B0604020202020204" pitchFamily="34" charset="0"/>
              </a:rPr>
              <a:t>SMS spam detection</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1" i="0" u="none" strike="noStrike" cap="none" normalizeH="0" baseline="0" dirty="0">
                <a:ln>
                  <a:noFill/>
                </a:ln>
                <a:solidFill>
                  <a:schemeClr val="tx1"/>
                </a:solidFill>
                <a:effectLst/>
                <a:latin typeface="Arial" panose="020B0604020202020204" pitchFamily="34" charset="0"/>
              </a:rPr>
              <a:t>fake news detection</a:t>
            </a:r>
            <a:r>
              <a:rPr kumimoji="0" lang="en-US" altLang="en-US" sz="2400" b="0" i="0" u="none" strike="noStrike" cap="none" normalizeH="0" baseline="0" dirty="0">
                <a:ln>
                  <a:noFill/>
                </a:ln>
                <a:solidFill>
                  <a:schemeClr val="tx1"/>
                </a:solidFill>
                <a:effectLst/>
                <a:latin typeface="Arial" panose="020B0604020202020204" pitchFamily="34" charset="0"/>
              </a:rPr>
              <a:t>, and </a:t>
            </a:r>
            <a:r>
              <a:rPr kumimoji="0" lang="en-US" altLang="en-US" sz="2400" b="1" i="0" u="none" strike="noStrike" cap="none" normalizeH="0" baseline="0" dirty="0">
                <a:ln>
                  <a:noFill/>
                </a:ln>
                <a:solidFill>
                  <a:schemeClr val="tx1"/>
                </a:solidFill>
                <a:effectLst/>
                <a:latin typeface="Arial" panose="020B0604020202020204" pitchFamily="34" charset="0"/>
              </a:rPr>
              <a:t>sentiment analysis</a:t>
            </a:r>
            <a:r>
              <a:rPr kumimoji="0" lang="en-US" altLang="en-US" sz="24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6011437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E6DF9-8986-8DE2-CDE7-2AE8D4027A7B}"/>
              </a:ext>
            </a:extLst>
          </p:cNvPr>
          <p:cNvSpPr>
            <a:spLocks noGrp="1"/>
          </p:cNvSpPr>
          <p:nvPr>
            <p:ph type="title"/>
          </p:nvPr>
        </p:nvSpPr>
        <p:spPr>
          <a:xfrm>
            <a:off x="704635" y="365125"/>
            <a:ext cx="10515600" cy="1325563"/>
          </a:xfrm>
        </p:spPr>
        <p:txBody>
          <a:bodyPr>
            <a:normAutofit/>
          </a:bodyPr>
          <a:lstStyle/>
          <a:p>
            <a:r>
              <a:rPr lang="en-IN" dirty="0"/>
              <a:t>Problem Statement</a:t>
            </a:r>
          </a:p>
        </p:txBody>
      </p:sp>
      <p:sp>
        <p:nvSpPr>
          <p:cNvPr id="6" name="Rectangle 3">
            <a:extLst>
              <a:ext uri="{FF2B5EF4-FFF2-40B4-BE49-F238E27FC236}">
                <a16:creationId xmlns:a16="http://schemas.microsoft.com/office/drawing/2014/main" id="{D9C384E5-11A9-CB30-24CD-015364611D71}"/>
              </a:ext>
            </a:extLst>
          </p:cNvPr>
          <p:cNvSpPr>
            <a:spLocks noGrp="1" noChangeArrowheads="1"/>
          </p:cNvSpPr>
          <p:nvPr>
            <p:ph idx="1"/>
          </p:nvPr>
        </p:nvSpPr>
        <p:spPr bwMode="auto">
          <a:xfrm>
            <a:off x="858748" y="1658772"/>
            <a:ext cx="9708748" cy="3540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lnSpc>
                <a:spcPct val="100000"/>
              </a:lnSpc>
              <a:spcBef>
                <a:spcPct val="0"/>
              </a:spcBef>
              <a:spcAft>
                <a:spcPct val="0"/>
              </a:spcAft>
            </a:pPr>
            <a:r>
              <a:rPr lang="en-US" sz="2400" b="1" dirty="0"/>
              <a:t>Clearly Define the Problem:</a:t>
            </a:r>
            <a:endParaRPr kumimoji="0" lang="en-US" altLang="en-US" sz="2400" b="1"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Email users receive a large number of unwanted spam emails every day.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Spam emails may contain advertisements, fake offers, phishing links, or malicious content.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Manually identifying and removing spam emails is difficult and time-consuming. </a:t>
            </a:r>
          </a:p>
          <a:p>
            <a:r>
              <a:rPr lang="en-US" sz="2400" b="1" dirty="0"/>
              <a:t>Existing Issues / Limitations</a:t>
            </a:r>
          </a:p>
          <a:p>
            <a:pPr>
              <a:buFont typeface="Wingdings" panose="05000000000000000000" pitchFamily="2" charset="2"/>
              <a:buChar char="Ø"/>
            </a:pPr>
            <a:r>
              <a:rPr lang="en-US" sz="1800" dirty="0"/>
              <a:t>Traditional rule-based filters cannot detect new types of spam effectively. </a:t>
            </a:r>
          </a:p>
          <a:p>
            <a:pPr>
              <a:buFont typeface="Wingdings" panose="05000000000000000000" pitchFamily="2" charset="2"/>
              <a:buChar char="Ø"/>
            </a:pPr>
            <a:r>
              <a:rPr lang="en-US" sz="1800" dirty="0"/>
              <a:t>Keyword-based filtering may classify genuine emails as spam. </a:t>
            </a:r>
          </a:p>
          <a:p>
            <a:pPr>
              <a:buFont typeface="Wingdings" panose="05000000000000000000" pitchFamily="2" charset="2"/>
              <a:buChar char="Ø"/>
            </a:pPr>
            <a:r>
              <a:rPr lang="en-US" sz="1800" dirty="0"/>
              <a:t>Manual filtering is slow and not practical for large volumes of emails. </a:t>
            </a:r>
          </a:p>
          <a:p>
            <a:pPr>
              <a:buFont typeface="Wingdings" panose="05000000000000000000" pitchFamily="2" charset="2"/>
              <a:buChar char="Ø"/>
            </a:pPr>
            <a:r>
              <a:rPr lang="en-US" sz="1800" dirty="0"/>
              <a:t>Existing methods need frequent updates to handle changing spam patterns.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487950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9FC2F66-32C1-C090-CD55-B90E4706AF1F}"/>
              </a:ext>
            </a:extLst>
          </p:cNvPr>
          <p:cNvSpPr txBox="1"/>
          <p:nvPr/>
        </p:nvSpPr>
        <p:spPr>
          <a:xfrm>
            <a:off x="770562" y="729466"/>
            <a:ext cx="8376006" cy="5016758"/>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a:spAutoFit/>
          </a:bodyPr>
          <a:lstStyle/>
          <a:p>
            <a:pPr marL="342900" indent="-342900">
              <a:buFont typeface="Arial" panose="020B0604020202020204" pitchFamily="34" charset="0"/>
              <a:buChar char="•"/>
            </a:pPr>
            <a:r>
              <a:rPr lang="en-US" sz="2400" b="1" dirty="0"/>
              <a:t>Need for the Proposed Solution</a:t>
            </a:r>
          </a:p>
          <a:p>
            <a:pPr marL="285750" indent="-285750">
              <a:buFont typeface="Wingdings" panose="05000000000000000000" pitchFamily="2" charset="2"/>
              <a:buChar char="Ø"/>
            </a:pPr>
            <a:r>
              <a:rPr lang="en-US" dirty="0"/>
              <a:t>To automatically classify emails as </a:t>
            </a:r>
            <a:r>
              <a:rPr lang="en-US" b="1" dirty="0"/>
              <a:t>Spam</a:t>
            </a:r>
            <a:r>
              <a:rPr lang="en-US" dirty="0"/>
              <a:t> or </a:t>
            </a:r>
            <a:r>
              <a:rPr lang="en-US" b="1" dirty="0"/>
              <a:t>Ham</a:t>
            </a:r>
            <a:r>
              <a:rPr lang="en-US" dirty="0"/>
              <a:t> using Machine Learning. </a:t>
            </a:r>
          </a:p>
          <a:p>
            <a:pPr marL="285750" indent="-285750">
              <a:buFont typeface="Wingdings" panose="05000000000000000000" pitchFamily="2" charset="2"/>
              <a:buChar char="Ø"/>
            </a:pPr>
            <a:r>
              <a:rPr lang="en-US" dirty="0"/>
              <a:t>To improve detection accuracy with less manual effort. </a:t>
            </a:r>
          </a:p>
          <a:p>
            <a:pPr marL="285750" indent="-285750">
              <a:buFont typeface="Wingdings" panose="05000000000000000000" pitchFamily="2" charset="2"/>
              <a:buChar char="Ø"/>
            </a:pPr>
            <a:r>
              <a:rPr lang="en-US" dirty="0"/>
              <a:t>To provide a fast, simple, and reliable spam filtering system. </a:t>
            </a:r>
          </a:p>
          <a:p>
            <a:pPr marL="285750" indent="-285750">
              <a:buFont typeface="Wingdings" panose="05000000000000000000" pitchFamily="2" charset="2"/>
              <a:buChar char="Ø"/>
            </a:pPr>
            <a:r>
              <a:rPr lang="en-US" dirty="0"/>
              <a:t>To enhance email security by reducing phishing and unwanted emails</a:t>
            </a:r>
          </a:p>
          <a:p>
            <a:r>
              <a:rPr lang="en-US" sz="1600" dirty="0"/>
              <a:t>        </a:t>
            </a:r>
            <a:r>
              <a:rPr lang="en-US" sz="1600" dirty="0">
                <a:solidFill>
                  <a:schemeClr val="accent5">
                    <a:lumMod val="75000"/>
                  </a:schemeClr>
                </a:solidFill>
              </a:rPr>
              <a:t>Increase in Email Usage</a:t>
            </a:r>
          </a:p>
          <a:p>
            <a:r>
              <a:rPr lang="en-US" sz="1600" dirty="0">
                <a:solidFill>
                  <a:schemeClr val="accent5">
                    <a:lumMod val="75000"/>
                  </a:schemeClr>
                </a:solidFill>
              </a:rPr>
              <a:t>                    </a:t>
            </a:r>
          </a:p>
          <a:p>
            <a:r>
              <a:rPr lang="en-US" sz="1600" dirty="0">
                <a:solidFill>
                  <a:schemeClr val="accent5">
                    <a:lumMod val="75000"/>
                  </a:schemeClr>
                </a:solidFill>
              </a:rPr>
              <a:t>        Large Number of Spam Emails</a:t>
            </a:r>
          </a:p>
          <a:p>
            <a:r>
              <a:rPr lang="en-US" sz="1600" dirty="0">
                <a:solidFill>
                  <a:schemeClr val="accent5">
                    <a:lumMod val="75000"/>
                  </a:schemeClr>
                </a:solidFill>
              </a:rPr>
              <a:t>                     </a:t>
            </a:r>
          </a:p>
          <a:p>
            <a:r>
              <a:rPr lang="en-US" sz="1600" dirty="0">
                <a:solidFill>
                  <a:schemeClr val="accent5">
                    <a:lumMod val="75000"/>
                  </a:schemeClr>
                </a:solidFill>
              </a:rPr>
              <a:t>       Fake Offers • Phishing • Malware</a:t>
            </a:r>
          </a:p>
          <a:p>
            <a:r>
              <a:rPr lang="en-US" sz="1600" dirty="0">
                <a:solidFill>
                  <a:schemeClr val="accent5">
                    <a:lumMod val="75000"/>
                  </a:schemeClr>
                </a:solidFill>
              </a:rPr>
              <a:t>                          </a:t>
            </a:r>
          </a:p>
          <a:p>
            <a:r>
              <a:rPr lang="en-US" sz="1600" dirty="0">
                <a:solidFill>
                  <a:schemeClr val="accent5">
                    <a:lumMod val="75000"/>
                  </a:schemeClr>
                </a:solidFill>
              </a:rPr>
              <a:t>      Manual Filtering is Difficult</a:t>
            </a:r>
          </a:p>
          <a:p>
            <a:r>
              <a:rPr lang="en-US" sz="1600" dirty="0">
                <a:solidFill>
                  <a:schemeClr val="accent5">
                    <a:lumMod val="75000"/>
                  </a:schemeClr>
                </a:solidFill>
              </a:rPr>
              <a:t>                           </a:t>
            </a:r>
          </a:p>
          <a:p>
            <a:r>
              <a:rPr lang="en-US" sz="1600" dirty="0">
                <a:solidFill>
                  <a:schemeClr val="accent5">
                    <a:lumMod val="75000"/>
                  </a:schemeClr>
                </a:solidFill>
              </a:rPr>
              <a:t>     Traditional Filters Have Limitations</a:t>
            </a:r>
          </a:p>
          <a:p>
            <a:r>
              <a:rPr lang="en-US" sz="1600" dirty="0">
                <a:solidFill>
                  <a:schemeClr val="accent5">
                    <a:lumMod val="75000"/>
                  </a:schemeClr>
                </a:solidFill>
              </a:rPr>
              <a:t>                           </a:t>
            </a:r>
          </a:p>
          <a:p>
            <a:r>
              <a:rPr lang="en-US" sz="1600" dirty="0">
                <a:solidFill>
                  <a:schemeClr val="accent5">
                    <a:lumMod val="75000"/>
                  </a:schemeClr>
                </a:solidFill>
              </a:rPr>
              <a:t>   Need for Machine Learning-Based Solution</a:t>
            </a:r>
          </a:p>
          <a:p>
            <a:r>
              <a:rPr lang="en-US" sz="1600" dirty="0">
                <a:solidFill>
                  <a:schemeClr val="accent5">
                    <a:lumMod val="75000"/>
                  </a:schemeClr>
                </a:solidFill>
              </a:rPr>
              <a:t>                           </a:t>
            </a:r>
          </a:p>
          <a:p>
            <a:endParaRPr lang="en-US" sz="1600" dirty="0">
              <a:solidFill>
                <a:schemeClr val="accent5">
                  <a:lumMod val="75000"/>
                </a:schemeClr>
              </a:solidFill>
            </a:endParaRPr>
          </a:p>
          <a:p>
            <a:r>
              <a:rPr lang="en-US" sz="1600" dirty="0">
                <a:solidFill>
                  <a:schemeClr val="accent5">
                    <a:lumMod val="75000"/>
                  </a:schemeClr>
                </a:solidFill>
              </a:rPr>
              <a:t>   Automatic Spam/Ham Classification</a:t>
            </a:r>
          </a:p>
        </p:txBody>
      </p:sp>
      <p:cxnSp>
        <p:nvCxnSpPr>
          <p:cNvPr id="13" name="Straight Arrow Connector 12">
            <a:extLst>
              <a:ext uri="{FF2B5EF4-FFF2-40B4-BE49-F238E27FC236}">
                <a16:creationId xmlns:a16="http://schemas.microsoft.com/office/drawing/2014/main" id="{64F38BE8-FA8F-4E51-40DD-8F298C2F3E53}"/>
              </a:ext>
            </a:extLst>
          </p:cNvPr>
          <p:cNvCxnSpPr/>
          <p:nvPr/>
        </p:nvCxnSpPr>
        <p:spPr>
          <a:xfrm>
            <a:off x="2003461" y="2486346"/>
            <a:ext cx="0" cy="25685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1D1B4802-CC96-3851-267A-BB75DAFDDD1D}"/>
              </a:ext>
            </a:extLst>
          </p:cNvPr>
          <p:cNvCxnSpPr/>
          <p:nvPr/>
        </p:nvCxnSpPr>
        <p:spPr>
          <a:xfrm>
            <a:off x="2003461" y="3010328"/>
            <a:ext cx="0" cy="22603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C5FB0AE1-84FF-4751-1B56-06BB83478EE8}"/>
              </a:ext>
            </a:extLst>
          </p:cNvPr>
          <p:cNvCxnSpPr>
            <a:cxnSpLocks/>
          </p:cNvCxnSpPr>
          <p:nvPr/>
        </p:nvCxnSpPr>
        <p:spPr>
          <a:xfrm>
            <a:off x="2003461" y="3429000"/>
            <a:ext cx="0" cy="2799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290844C5-D0AE-3064-D169-AC7403933162}"/>
              </a:ext>
            </a:extLst>
          </p:cNvPr>
          <p:cNvCxnSpPr/>
          <p:nvPr/>
        </p:nvCxnSpPr>
        <p:spPr>
          <a:xfrm>
            <a:off x="2003461" y="3955551"/>
            <a:ext cx="0" cy="2876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E09F8E8F-BD83-1A70-22FF-348296526D98}"/>
              </a:ext>
            </a:extLst>
          </p:cNvPr>
          <p:cNvCxnSpPr>
            <a:cxnSpLocks/>
          </p:cNvCxnSpPr>
          <p:nvPr/>
        </p:nvCxnSpPr>
        <p:spPr>
          <a:xfrm>
            <a:off x="2003461" y="4438436"/>
            <a:ext cx="0" cy="29795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47E0E883-87E3-AB42-A818-9C1CE3D47A5F}"/>
              </a:ext>
            </a:extLst>
          </p:cNvPr>
          <p:cNvCxnSpPr/>
          <p:nvPr/>
        </p:nvCxnSpPr>
        <p:spPr>
          <a:xfrm>
            <a:off x="2003461" y="4962418"/>
            <a:ext cx="0" cy="4212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0" name="Flowchart: Process 29">
            <a:extLst>
              <a:ext uri="{FF2B5EF4-FFF2-40B4-BE49-F238E27FC236}">
                <a16:creationId xmlns:a16="http://schemas.microsoft.com/office/drawing/2014/main" id="{F153A8C1-0680-F8D7-CF69-187441C64B86}"/>
              </a:ext>
            </a:extLst>
          </p:cNvPr>
          <p:cNvSpPr/>
          <p:nvPr/>
        </p:nvSpPr>
        <p:spPr>
          <a:xfrm>
            <a:off x="976045" y="2188396"/>
            <a:ext cx="2537713" cy="297950"/>
          </a:xfrm>
          <a:prstGeom prst="flowChartProcess">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4497649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BA5CA-BF0D-C35C-BFC5-E40DF86A9FE1}"/>
              </a:ext>
            </a:extLst>
          </p:cNvPr>
          <p:cNvSpPr>
            <a:spLocks noGrp="1"/>
          </p:cNvSpPr>
          <p:nvPr>
            <p:ph type="title"/>
          </p:nvPr>
        </p:nvSpPr>
        <p:spPr>
          <a:xfrm>
            <a:off x="522466" y="375400"/>
            <a:ext cx="10515600" cy="867774"/>
          </a:xfrm>
        </p:spPr>
        <p:txBody>
          <a:bodyPr>
            <a:normAutofit/>
          </a:bodyPr>
          <a:lstStyle/>
          <a:p>
            <a:r>
              <a:rPr lang="en-US" dirty="0"/>
              <a:t>Objectives</a:t>
            </a:r>
            <a:endParaRPr lang="en-IN" dirty="0"/>
          </a:p>
        </p:txBody>
      </p:sp>
      <p:sp>
        <p:nvSpPr>
          <p:cNvPr id="5" name="Rectangle 2">
            <a:extLst>
              <a:ext uri="{FF2B5EF4-FFF2-40B4-BE49-F238E27FC236}">
                <a16:creationId xmlns:a16="http://schemas.microsoft.com/office/drawing/2014/main" id="{1989B14B-871E-B943-1BDA-722E499A9D5C}"/>
              </a:ext>
            </a:extLst>
          </p:cNvPr>
          <p:cNvSpPr>
            <a:spLocks noGrp="1" noChangeArrowheads="1"/>
          </p:cNvSpPr>
          <p:nvPr>
            <p:ph idx="1"/>
          </p:nvPr>
        </p:nvSpPr>
        <p:spPr bwMode="auto">
          <a:xfrm>
            <a:off x="522466" y="1259176"/>
            <a:ext cx="10831334"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To develop an Email Spam Detection system that automatically classifies emails as </a:t>
            </a:r>
            <a:r>
              <a:rPr kumimoji="0" lang="en-US" altLang="en-US" sz="1800" b="1" i="0" u="none" strike="noStrike" cap="none" normalizeH="0" baseline="0" dirty="0">
                <a:ln>
                  <a:noFill/>
                </a:ln>
                <a:solidFill>
                  <a:schemeClr val="tx1"/>
                </a:solidFill>
                <a:effectLst/>
                <a:latin typeface="Arial" panose="020B0604020202020204" pitchFamily="34" charset="0"/>
              </a:rPr>
              <a:t>Spam</a:t>
            </a:r>
            <a:r>
              <a:rPr kumimoji="0" lang="en-US" altLang="en-US" sz="1800" b="0" i="0" u="none" strike="noStrike" cap="none" normalizeH="0" baseline="0" dirty="0">
                <a:ln>
                  <a:noFill/>
                </a:ln>
                <a:solidFill>
                  <a:schemeClr val="tx1"/>
                </a:solidFill>
                <a:effectLst/>
                <a:latin typeface="Arial" panose="020B0604020202020204" pitchFamily="34" charset="0"/>
              </a:rPr>
              <a:t> or </a:t>
            </a:r>
            <a:r>
              <a:rPr kumimoji="0" lang="en-US" altLang="en-US" sz="1800" b="1" i="0" u="none" strike="noStrike" cap="none" normalizeH="0" baseline="0" dirty="0">
                <a:ln>
                  <a:noFill/>
                </a:ln>
                <a:solidFill>
                  <a:schemeClr val="tx1"/>
                </a:solidFill>
                <a:effectLst/>
                <a:latin typeface="Arial" panose="020B0604020202020204" pitchFamily="34" charset="0"/>
              </a:rPr>
              <a:t>Ham</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using Machine Learning.</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To preprocess email text by cleaning the data and converting it into numerical features using</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 the </a:t>
            </a:r>
            <a:r>
              <a:rPr kumimoji="0" lang="en-US" altLang="en-US" sz="1800" b="1" i="0" u="none" strike="noStrike" cap="none" normalizeH="0" baseline="0" dirty="0">
                <a:ln>
                  <a:noFill/>
                </a:ln>
                <a:solidFill>
                  <a:schemeClr val="tx1"/>
                </a:solidFill>
                <a:effectLst/>
                <a:latin typeface="Arial" panose="020B0604020202020204" pitchFamily="34" charset="0"/>
              </a:rPr>
              <a:t>TF-IDF</a:t>
            </a:r>
            <a:r>
              <a:rPr kumimoji="0" lang="en-US" altLang="en-US" sz="1800" b="0" i="0" u="none" strike="noStrike" cap="none" normalizeH="0" baseline="0" dirty="0">
                <a:ln>
                  <a:noFill/>
                </a:ln>
                <a:solidFill>
                  <a:schemeClr val="tx1"/>
                </a:solidFill>
                <a:effectLst/>
                <a:latin typeface="Arial" panose="020B0604020202020204" pitchFamily="34" charset="0"/>
              </a:rPr>
              <a:t> technique.</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To train and test the </a:t>
            </a:r>
            <a:r>
              <a:rPr kumimoji="0" lang="en-US" altLang="en-US" sz="1800" b="1" i="0" u="none" strike="noStrike" cap="none" normalizeH="0" baseline="0" dirty="0">
                <a:ln>
                  <a:noFill/>
                </a:ln>
                <a:solidFill>
                  <a:schemeClr val="tx1"/>
                </a:solidFill>
                <a:effectLst/>
                <a:latin typeface="Arial" panose="020B0604020202020204" pitchFamily="34" charset="0"/>
              </a:rPr>
              <a:t>Multinomial Naive Bayes</a:t>
            </a:r>
            <a:r>
              <a:rPr kumimoji="0" lang="en-US" altLang="en-US" sz="1800" b="0" i="0" u="none" strike="noStrike" cap="none" normalizeH="0" baseline="0" dirty="0">
                <a:ln>
                  <a:noFill/>
                </a:ln>
                <a:solidFill>
                  <a:schemeClr val="tx1"/>
                </a:solidFill>
                <a:effectLst/>
                <a:latin typeface="Arial" panose="020B0604020202020204" pitchFamily="34" charset="0"/>
              </a:rPr>
              <a:t> model for accurate email classification.</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To evaluate the model's performance using </a:t>
            </a:r>
            <a:r>
              <a:rPr kumimoji="0" lang="en-US" altLang="en-US" sz="1800" b="1" i="0" u="none" strike="noStrike" cap="none" normalizeH="0" baseline="0" dirty="0">
                <a:ln>
                  <a:noFill/>
                </a:ln>
                <a:solidFill>
                  <a:schemeClr val="tx1"/>
                </a:solidFill>
                <a:effectLst/>
                <a:latin typeface="Arial" panose="020B0604020202020204" pitchFamily="34" charset="0"/>
              </a:rPr>
              <a:t>Accuracy, Precision, Recall, and F1-Score</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To reduce manual effort and improve the speed and reliability of email spam detection.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6" name="Table 5">
            <a:extLst>
              <a:ext uri="{FF2B5EF4-FFF2-40B4-BE49-F238E27FC236}">
                <a16:creationId xmlns:a16="http://schemas.microsoft.com/office/drawing/2014/main" id="{2D80E03D-92B8-5294-DFF4-5B749A03689F}"/>
              </a:ext>
            </a:extLst>
          </p:cNvPr>
          <p:cNvGraphicFramePr>
            <a:graphicFrameLocks noGrp="1"/>
          </p:cNvGraphicFramePr>
          <p:nvPr>
            <p:extLst>
              <p:ext uri="{D42A27DB-BD31-4B8C-83A1-F6EECF244321}">
                <p14:modId xmlns:p14="http://schemas.microsoft.com/office/powerpoint/2010/main" val="958001715"/>
              </p:ext>
            </p:extLst>
          </p:nvPr>
        </p:nvGraphicFramePr>
        <p:xfrm>
          <a:off x="522466" y="3429000"/>
          <a:ext cx="10515600" cy="2308326"/>
        </p:xfrm>
        <a:graphic>
          <a:graphicData uri="http://schemas.openxmlformats.org/drawingml/2006/table">
            <a:tbl>
              <a:tblPr>
                <a:tableStyleId>{00A15C55-8517-42AA-B614-E9B94910E393}</a:tableStyleId>
              </a:tblPr>
              <a:tblGrid>
                <a:gridCol w="5257800">
                  <a:extLst>
                    <a:ext uri="{9D8B030D-6E8A-4147-A177-3AD203B41FA5}">
                      <a16:colId xmlns:a16="http://schemas.microsoft.com/office/drawing/2014/main" val="3999915910"/>
                    </a:ext>
                  </a:extLst>
                </a:gridCol>
                <a:gridCol w="5257800">
                  <a:extLst>
                    <a:ext uri="{9D8B030D-6E8A-4147-A177-3AD203B41FA5}">
                      <a16:colId xmlns:a16="http://schemas.microsoft.com/office/drawing/2014/main" val="2102235390"/>
                    </a:ext>
                  </a:extLst>
                </a:gridCol>
              </a:tblGrid>
              <a:tr h="384721">
                <a:tc>
                  <a:txBody>
                    <a:bodyPr/>
                    <a:lstStyle/>
                    <a:p>
                      <a:pPr>
                        <a:buNone/>
                      </a:pPr>
                      <a:r>
                        <a:rPr lang="en-US" b="1" dirty="0"/>
                        <a:t>Problem Statement</a:t>
                      </a:r>
                      <a:endParaRPr lang="en-US" dirty="0"/>
                    </a:p>
                  </a:txBody>
                  <a:tcPr anchor="ctr"/>
                </a:tc>
                <a:tc>
                  <a:txBody>
                    <a:bodyPr/>
                    <a:lstStyle/>
                    <a:p>
                      <a:pPr>
                        <a:buNone/>
                      </a:pPr>
                      <a:r>
                        <a:rPr lang="en-US" b="1"/>
                        <a:t>Objective</a:t>
                      </a:r>
                      <a:endParaRPr lang="en-US"/>
                    </a:p>
                  </a:txBody>
                  <a:tcPr anchor="ctr"/>
                </a:tc>
                <a:extLst>
                  <a:ext uri="{0D108BD9-81ED-4DB2-BD59-A6C34878D82A}">
                    <a16:rowId xmlns:a16="http://schemas.microsoft.com/office/drawing/2014/main" val="697510626"/>
                  </a:ext>
                </a:extLst>
              </a:tr>
              <a:tr h="384721">
                <a:tc>
                  <a:txBody>
                    <a:bodyPr/>
                    <a:lstStyle/>
                    <a:p>
                      <a:pPr>
                        <a:buNone/>
                      </a:pPr>
                      <a:r>
                        <a:rPr lang="en-US" dirty="0"/>
                        <a:t>Large number of spam emails</a:t>
                      </a:r>
                    </a:p>
                  </a:txBody>
                  <a:tcPr anchor="ctr"/>
                </a:tc>
                <a:tc>
                  <a:txBody>
                    <a:bodyPr/>
                    <a:lstStyle/>
                    <a:p>
                      <a:pPr>
                        <a:buNone/>
                      </a:pPr>
                      <a:r>
                        <a:rPr lang="en-US"/>
                        <a:t>Develop an automatic spam detection system</a:t>
                      </a:r>
                    </a:p>
                  </a:txBody>
                  <a:tcPr anchor="ctr"/>
                </a:tc>
                <a:extLst>
                  <a:ext uri="{0D108BD9-81ED-4DB2-BD59-A6C34878D82A}">
                    <a16:rowId xmlns:a16="http://schemas.microsoft.com/office/drawing/2014/main" val="2809702081"/>
                  </a:ext>
                </a:extLst>
              </a:tr>
              <a:tr h="384721">
                <a:tc>
                  <a:txBody>
                    <a:bodyPr/>
                    <a:lstStyle/>
                    <a:p>
                      <a:pPr>
                        <a:buNone/>
                      </a:pPr>
                      <a:r>
                        <a:rPr lang="en-US" dirty="0"/>
                        <a:t>Manual filtering is time-consuming</a:t>
                      </a:r>
                    </a:p>
                  </a:txBody>
                  <a:tcPr anchor="ctr"/>
                </a:tc>
                <a:tc>
                  <a:txBody>
                    <a:bodyPr/>
                    <a:lstStyle/>
                    <a:p>
                      <a:pPr>
                        <a:buNone/>
                      </a:pPr>
                      <a:r>
                        <a:rPr lang="en-US"/>
                        <a:t>Reduce manual effort through automation</a:t>
                      </a:r>
                    </a:p>
                  </a:txBody>
                  <a:tcPr anchor="ctr"/>
                </a:tc>
                <a:extLst>
                  <a:ext uri="{0D108BD9-81ED-4DB2-BD59-A6C34878D82A}">
                    <a16:rowId xmlns:a16="http://schemas.microsoft.com/office/drawing/2014/main" val="1876745303"/>
                  </a:ext>
                </a:extLst>
              </a:tr>
              <a:tr h="384721">
                <a:tc>
                  <a:txBody>
                    <a:bodyPr/>
                    <a:lstStyle/>
                    <a:p>
                      <a:pPr>
                        <a:buNone/>
                      </a:pPr>
                      <a:r>
                        <a:rPr lang="en-US" dirty="0"/>
                        <a:t>Traditional filters are less effective</a:t>
                      </a:r>
                    </a:p>
                  </a:txBody>
                  <a:tcPr anchor="ctr"/>
                </a:tc>
                <a:tc>
                  <a:txBody>
                    <a:bodyPr/>
                    <a:lstStyle/>
                    <a:p>
                      <a:pPr>
                        <a:buNone/>
                      </a:pPr>
                      <a:r>
                        <a:rPr lang="en-US" dirty="0"/>
                        <a:t>Use Machine Learning for better classification</a:t>
                      </a:r>
                    </a:p>
                  </a:txBody>
                  <a:tcPr anchor="ctr"/>
                </a:tc>
                <a:extLst>
                  <a:ext uri="{0D108BD9-81ED-4DB2-BD59-A6C34878D82A}">
                    <a16:rowId xmlns:a16="http://schemas.microsoft.com/office/drawing/2014/main" val="282381808"/>
                  </a:ext>
                </a:extLst>
              </a:tr>
              <a:tr h="384721">
                <a:tc>
                  <a:txBody>
                    <a:bodyPr/>
                    <a:lstStyle/>
                    <a:p>
                      <a:pPr>
                        <a:buNone/>
                      </a:pPr>
                      <a:r>
                        <a:rPr lang="en-US"/>
                        <a:t>Need for accurate spam detection</a:t>
                      </a:r>
                    </a:p>
                  </a:txBody>
                  <a:tcPr anchor="ctr"/>
                </a:tc>
                <a:tc>
                  <a:txBody>
                    <a:bodyPr/>
                    <a:lstStyle/>
                    <a:p>
                      <a:pPr>
                        <a:buNone/>
                      </a:pPr>
                      <a:r>
                        <a:rPr lang="en-US" dirty="0"/>
                        <a:t>Evaluate the model using performance metrics</a:t>
                      </a:r>
                    </a:p>
                  </a:txBody>
                  <a:tcPr anchor="ctr"/>
                </a:tc>
                <a:extLst>
                  <a:ext uri="{0D108BD9-81ED-4DB2-BD59-A6C34878D82A}">
                    <a16:rowId xmlns:a16="http://schemas.microsoft.com/office/drawing/2014/main" val="1912234924"/>
                  </a:ext>
                </a:extLst>
              </a:tr>
              <a:tr h="384721">
                <a:tc>
                  <a:txBody>
                    <a:bodyPr/>
                    <a:lstStyle/>
                    <a:p>
                      <a:pPr>
                        <a:buNone/>
                      </a:pPr>
                      <a:r>
                        <a:rPr lang="en-US" dirty="0"/>
                        <a:t>Improve email security</a:t>
                      </a:r>
                    </a:p>
                  </a:txBody>
                  <a:tcPr anchor="ctr"/>
                </a:tc>
                <a:tc>
                  <a:txBody>
                    <a:bodyPr/>
                    <a:lstStyle/>
                    <a:p>
                      <a:pPr>
                        <a:buNone/>
                      </a:pPr>
                      <a:r>
                        <a:rPr lang="en-US" dirty="0"/>
                        <a:t>Provide a fast and reliable spam detection system</a:t>
                      </a:r>
                    </a:p>
                  </a:txBody>
                  <a:tcPr anchor="ctr"/>
                </a:tc>
                <a:extLst>
                  <a:ext uri="{0D108BD9-81ED-4DB2-BD59-A6C34878D82A}">
                    <a16:rowId xmlns:a16="http://schemas.microsoft.com/office/drawing/2014/main" val="914993129"/>
                  </a:ext>
                </a:extLst>
              </a:tr>
            </a:tbl>
          </a:graphicData>
        </a:graphic>
      </p:graphicFrame>
    </p:spTree>
    <p:extLst>
      <p:ext uri="{BB962C8B-B14F-4D97-AF65-F5344CB8AC3E}">
        <p14:creationId xmlns:p14="http://schemas.microsoft.com/office/powerpoint/2010/main" val="7307962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90787-0DCB-8360-9D58-70095DE15107}"/>
              </a:ext>
            </a:extLst>
          </p:cNvPr>
          <p:cNvSpPr>
            <a:spLocks noGrp="1"/>
          </p:cNvSpPr>
          <p:nvPr>
            <p:ph type="title"/>
          </p:nvPr>
        </p:nvSpPr>
        <p:spPr/>
        <p:txBody>
          <a:bodyPr>
            <a:normAutofit/>
          </a:bodyPr>
          <a:lstStyle/>
          <a:p>
            <a:r>
              <a:rPr lang="en-US" dirty="0"/>
              <a:t>Scope</a:t>
            </a:r>
            <a:r>
              <a:rPr lang="en-US" sz="2800" dirty="0"/>
              <a:t> </a:t>
            </a:r>
            <a:r>
              <a:rPr lang="en-US" dirty="0"/>
              <a:t>of the Project</a:t>
            </a:r>
            <a:endParaRPr lang="en-IN" dirty="0"/>
          </a:p>
        </p:txBody>
      </p:sp>
      <p:sp>
        <p:nvSpPr>
          <p:cNvPr id="3" name="Content Placeholder 2">
            <a:extLst>
              <a:ext uri="{FF2B5EF4-FFF2-40B4-BE49-F238E27FC236}">
                <a16:creationId xmlns:a16="http://schemas.microsoft.com/office/drawing/2014/main" id="{20434702-764C-69A1-665F-DB8236D4CCFB}"/>
              </a:ext>
            </a:extLst>
          </p:cNvPr>
          <p:cNvSpPr>
            <a:spLocks noGrp="1"/>
          </p:cNvSpPr>
          <p:nvPr>
            <p:ph idx="1"/>
          </p:nvPr>
        </p:nvSpPr>
        <p:spPr/>
        <p:txBody>
          <a:bodyPr>
            <a:normAutofit fontScale="92500" lnSpcReduction="10000"/>
          </a:bodyPr>
          <a:lstStyle/>
          <a:p>
            <a:r>
              <a:rPr lang="en-US" sz="2600" b="1" dirty="0"/>
              <a:t>What is Included</a:t>
            </a:r>
          </a:p>
          <a:p>
            <a:pPr>
              <a:buFont typeface="Wingdings" panose="05000000000000000000" pitchFamily="2" charset="2"/>
              <a:buChar char="Ø"/>
            </a:pPr>
            <a:r>
              <a:rPr lang="en-US" sz="2100" dirty="0"/>
              <a:t>Detects whether an email is </a:t>
            </a:r>
            <a:r>
              <a:rPr lang="en-US" sz="2100" b="1" dirty="0"/>
              <a:t>Spam</a:t>
            </a:r>
            <a:r>
              <a:rPr lang="en-US" sz="2100" dirty="0"/>
              <a:t> or </a:t>
            </a:r>
            <a:r>
              <a:rPr lang="en-US" sz="2100" b="1" dirty="0"/>
              <a:t>Ham</a:t>
            </a:r>
            <a:r>
              <a:rPr lang="en-US" sz="2100" dirty="0"/>
              <a:t> using Machine Learning.</a:t>
            </a:r>
          </a:p>
          <a:p>
            <a:pPr>
              <a:buFont typeface="Wingdings" panose="05000000000000000000" pitchFamily="2" charset="2"/>
              <a:buChar char="Ø"/>
            </a:pPr>
            <a:r>
              <a:rPr lang="en-US" sz="2100" dirty="0"/>
              <a:t>Performs text preprocessing, including lowercase conversion, punctuation removal, and stop-word removal.</a:t>
            </a:r>
          </a:p>
          <a:p>
            <a:pPr>
              <a:buFont typeface="Wingdings" panose="05000000000000000000" pitchFamily="2" charset="2"/>
              <a:buChar char="Ø"/>
            </a:pPr>
            <a:r>
              <a:rPr lang="en-US" sz="2100" dirty="0"/>
              <a:t>Uses the </a:t>
            </a:r>
            <a:r>
              <a:rPr lang="en-US" sz="2100" b="1" dirty="0"/>
              <a:t>TF-IDF</a:t>
            </a:r>
            <a:r>
              <a:rPr lang="en-US" sz="2100" dirty="0"/>
              <a:t> technique for feature extraction and the </a:t>
            </a:r>
            <a:r>
              <a:rPr lang="en-US" sz="2100" b="1" dirty="0"/>
              <a:t>Multinomial Naive Bayes</a:t>
            </a:r>
            <a:r>
              <a:rPr lang="en-US" sz="2100" dirty="0"/>
              <a:t> algorithm for classification.</a:t>
            </a:r>
          </a:p>
          <a:p>
            <a:pPr>
              <a:buFont typeface="Wingdings" panose="05000000000000000000" pitchFamily="2" charset="2"/>
              <a:buChar char="Ø"/>
            </a:pPr>
            <a:r>
              <a:rPr lang="en-US" sz="2100" dirty="0"/>
              <a:t>Evaluates the model using </a:t>
            </a:r>
            <a:r>
              <a:rPr lang="en-US" sz="2100" b="1" dirty="0"/>
              <a:t>Accuracy, Precision, Recall, and F1-Score</a:t>
            </a:r>
            <a:r>
              <a:rPr lang="en-US" sz="2100" dirty="0"/>
              <a:t>.</a:t>
            </a:r>
          </a:p>
          <a:p>
            <a:r>
              <a:rPr lang="en-US" sz="2600" b="1" dirty="0"/>
              <a:t>What is Not Included</a:t>
            </a:r>
          </a:p>
          <a:p>
            <a:pPr>
              <a:buFont typeface="Wingdings" panose="05000000000000000000" pitchFamily="2" charset="2"/>
              <a:buChar char="Ø"/>
            </a:pPr>
            <a:r>
              <a:rPr lang="en-US" sz="2100" dirty="0"/>
              <a:t>Detection of image-based or attachment-based spam emails.</a:t>
            </a:r>
          </a:p>
          <a:p>
            <a:pPr>
              <a:buFont typeface="Wingdings" panose="05000000000000000000" pitchFamily="2" charset="2"/>
              <a:buChar char="Ø"/>
            </a:pPr>
            <a:r>
              <a:rPr lang="en-US" sz="2100" dirty="0"/>
              <a:t>Support for languages other than English.</a:t>
            </a:r>
          </a:p>
          <a:p>
            <a:pPr>
              <a:buFont typeface="Wingdings" panose="05000000000000000000" pitchFamily="2" charset="2"/>
              <a:buChar char="Ø"/>
            </a:pPr>
            <a:r>
              <a:rPr lang="en-US" sz="2100" dirty="0"/>
              <a:t>Real-time integration with email services such as Gmail or Outlook.</a:t>
            </a:r>
          </a:p>
          <a:p>
            <a:pPr>
              <a:buFont typeface="Wingdings" panose="05000000000000000000" pitchFamily="2" charset="2"/>
              <a:buChar char="Ø"/>
            </a:pPr>
            <a:r>
              <a:rPr lang="en-US" sz="2100" dirty="0"/>
              <a:t>Detection of advanced phishing attacks using URLs or email attachments.</a:t>
            </a:r>
          </a:p>
          <a:p>
            <a:endParaRPr lang="en-US" dirty="0"/>
          </a:p>
        </p:txBody>
      </p:sp>
    </p:spTree>
    <p:extLst>
      <p:ext uri="{BB962C8B-B14F-4D97-AF65-F5344CB8AC3E}">
        <p14:creationId xmlns:p14="http://schemas.microsoft.com/office/powerpoint/2010/main" val="34925308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9BB5FA-0D32-8570-73CA-C8F91A8E719E}"/>
              </a:ext>
            </a:extLst>
          </p:cNvPr>
          <p:cNvSpPr txBox="1"/>
          <p:nvPr/>
        </p:nvSpPr>
        <p:spPr>
          <a:xfrm>
            <a:off x="678093" y="760289"/>
            <a:ext cx="10222787" cy="4185761"/>
          </a:xfrm>
          <a:prstGeom prst="rect">
            <a:avLst/>
          </a:prstGeom>
          <a:noFill/>
        </p:spPr>
        <p:txBody>
          <a:bodyPr wrap="square">
            <a:spAutoFit/>
          </a:bodyPr>
          <a:lstStyle/>
          <a:p>
            <a:pPr>
              <a:buNone/>
            </a:pPr>
            <a:r>
              <a:rPr lang="en-US" sz="2400" b="1" dirty="0"/>
              <a:t>Assumptions and Constraints</a:t>
            </a:r>
          </a:p>
          <a:p>
            <a:pPr>
              <a:buNone/>
            </a:pPr>
            <a:r>
              <a:rPr lang="en-US" sz="2400" b="1" dirty="0"/>
              <a:t>Assumptions</a:t>
            </a:r>
            <a:endParaRPr lang="en-US" sz="2400" dirty="0"/>
          </a:p>
          <a:p>
            <a:pPr marL="285750" indent="-285750">
              <a:buFont typeface="Wingdings" panose="05000000000000000000" pitchFamily="2" charset="2"/>
              <a:buChar char="q"/>
            </a:pPr>
            <a:r>
              <a:rPr lang="en-US" sz="2000" dirty="0"/>
              <a:t>The email dataset is correctly labelled as Spam or Ham.</a:t>
            </a:r>
          </a:p>
          <a:p>
            <a:pPr marL="285750" indent="-285750">
              <a:buFont typeface="Wingdings" panose="05000000000000000000" pitchFamily="2" charset="2"/>
              <a:buChar char="q"/>
            </a:pPr>
            <a:r>
              <a:rPr lang="en-US" sz="2000" dirty="0"/>
              <a:t>The input emails are in English text format.</a:t>
            </a:r>
          </a:p>
          <a:p>
            <a:pPr marL="285750" indent="-285750">
              <a:buFont typeface="Wingdings" panose="05000000000000000000" pitchFamily="2" charset="2"/>
              <a:buChar char="q"/>
            </a:pPr>
            <a:r>
              <a:rPr lang="en-US" sz="2000" dirty="0"/>
              <a:t>Users provide valid email text for prediction.</a:t>
            </a:r>
          </a:p>
          <a:p>
            <a:pPr>
              <a:buNone/>
            </a:pPr>
            <a:r>
              <a:rPr lang="en-US" sz="2000" b="1" dirty="0"/>
              <a:t>Constraints</a:t>
            </a:r>
            <a:endParaRPr lang="en-US" sz="2000" dirty="0"/>
          </a:p>
          <a:p>
            <a:pPr marL="285750" indent="-285750">
              <a:buFont typeface="Wingdings" panose="05000000000000000000" pitchFamily="2" charset="2"/>
              <a:buChar char="q"/>
            </a:pPr>
            <a:r>
              <a:rPr lang="en-US" sz="2000" dirty="0"/>
              <a:t>The model is trained on a limited dataset, which may affect performance on unseen email patterns.</a:t>
            </a:r>
          </a:p>
          <a:p>
            <a:pPr marL="285750" indent="-285750">
              <a:buFont typeface="Wingdings" panose="05000000000000000000" pitchFamily="2" charset="2"/>
              <a:buChar char="q"/>
            </a:pPr>
            <a:r>
              <a:rPr lang="en-US" sz="2000" dirty="0"/>
              <a:t>The system works only with text-based email content.</a:t>
            </a:r>
          </a:p>
          <a:p>
            <a:pPr marL="285750" indent="-285750">
              <a:buFont typeface="Wingdings" panose="05000000000000000000" pitchFamily="2" charset="2"/>
              <a:buChar char="q"/>
            </a:pPr>
            <a:r>
              <a:rPr lang="en-US" sz="2000" dirty="0"/>
              <a:t>Performance depends on the quality of the training data and preprocessing.</a:t>
            </a:r>
          </a:p>
          <a:p>
            <a:pPr marL="285750" indent="-285750">
              <a:buFont typeface="Wingdings" panose="05000000000000000000" pitchFamily="2" charset="2"/>
              <a:buChar char="q"/>
            </a:pPr>
            <a:r>
              <a:rPr lang="en-US" sz="2000" dirty="0"/>
              <a:t>The project is developed for academic purposes and not for large-scale commercial deployment.</a:t>
            </a:r>
          </a:p>
          <a:p>
            <a:pPr>
              <a:buFont typeface="Arial" panose="020B0604020202020204" pitchFamily="34" charset="0"/>
              <a:buChar char="•"/>
            </a:pPr>
            <a:endParaRPr lang="en-US" dirty="0"/>
          </a:p>
        </p:txBody>
      </p:sp>
    </p:spTree>
    <p:extLst>
      <p:ext uri="{BB962C8B-B14F-4D97-AF65-F5344CB8AC3E}">
        <p14:creationId xmlns:p14="http://schemas.microsoft.com/office/powerpoint/2010/main" val="11679070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2652A1D-6ADB-FFA1-571D-3014DA08A13D}"/>
              </a:ext>
            </a:extLst>
          </p:cNvPr>
          <p:cNvSpPr txBox="1"/>
          <p:nvPr/>
        </p:nvSpPr>
        <p:spPr>
          <a:xfrm>
            <a:off x="1366463" y="1584909"/>
            <a:ext cx="7780105" cy="4247317"/>
          </a:xfrm>
          <a:prstGeom prst="rect">
            <a:avLst/>
          </a:prstGeom>
          <a:noFill/>
        </p:spPr>
        <p:txBody>
          <a:bodyPr wrap="square">
            <a:spAutoFit/>
          </a:bodyPr>
          <a:lstStyle/>
          <a:p>
            <a:r>
              <a:rPr lang="en-US" dirty="0"/>
              <a:t>                                      Scope of the Project</a:t>
            </a:r>
          </a:p>
          <a:p>
            <a:r>
              <a:rPr lang="en-US" dirty="0"/>
              <a:t>                                                      │</a:t>
            </a:r>
          </a:p>
          <a:p>
            <a:r>
              <a:rPr lang="en-US" dirty="0"/>
              <a:t>        ┌─────────────────┼─────────────────┐</a:t>
            </a:r>
          </a:p>
          <a:p>
            <a:r>
              <a:rPr lang="en-US" dirty="0"/>
              <a:t>        │                                            │                                                                     </a:t>
            </a:r>
          </a:p>
          <a:p>
            <a:r>
              <a:rPr lang="en-US" dirty="0"/>
              <a:t>        </a:t>
            </a:r>
          </a:p>
          <a:p>
            <a:r>
              <a:rPr lang="en-US" dirty="0"/>
              <a:t>   What is Included      What is Not             Assumptions &amp;</a:t>
            </a:r>
          </a:p>
          <a:p>
            <a:r>
              <a:rPr lang="en-US" dirty="0"/>
              <a:t>         Included               Constraints</a:t>
            </a:r>
          </a:p>
          <a:p>
            <a:r>
              <a:rPr lang="en-US" dirty="0"/>
              <a:t>               │                                        │                                    │</a:t>
            </a:r>
          </a:p>
          <a:p>
            <a:r>
              <a:rPr lang="en-US" dirty="0"/>
              <a:t>                                          </a:t>
            </a:r>
          </a:p>
          <a:p>
            <a:r>
              <a:rPr lang="en-US" dirty="0">
                <a:solidFill>
                  <a:srgbClr val="FF0000"/>
                </a:solidFill>
              </a:rPr>
              <a:t>Spam/Ham </a:t>
            </a:r>
          </a:p>
          <a:p>
            <a:r>
              <a:rPr lang="en-US" dirty="0">
                <a:solidFill>
                  <a:srgbClr val="FF0000"/>
                </a:solidFill>
              </a:rPr>
              <a:t>Detection                      Image Spam                  English Dataset</a:t>
            </a:r>
          </a:p>
          <a:p>
            <a:r>
              <a:rPr lang="en-US" dirty="0">
                <a:solidFill>
                  <a:schemeClr val="accent1"/>
                </a:solidFill>
              </a:rPr>
              <a:t>TF-IDF    </a:t>
            </a:r>
            <a:r>
              <a:rPr lang="en-US" dirty="0"/>
              <a:t>                       </a:t>
            </a:r>
            <a:r>
              <a:rPr lang="en-US" dirty="0">
                <a:solidFill>
                  <a:schemeClr val="accent1"/>
                </a:solidFill>
              </a:rPr>
              <a:t> Attachments                   Limited Dataset</a:t>
            </a:r>
          </a:p>
          <a:p>
            <a:r>
              <a:rPr lang="en-US" dirty="0">
                <a:solidFill>
                  <a:schemeClr val="accent3"/>
                </a:solidFill>
              </a:rPr>
              <a:t>Naive Bayes             Multi-language                  Academic Project</a:t>
            </a:r>
          </a:p>
          <a:p>
            <a:r>
              <a:rPr lang="en-US" dirty="0">
                <a:solidFill>
                  <a:schemeClr val="accent4"/>
                </a:solidFill>
              </a:rPr>
              <a:t>Performance </a:t>
            </a:r>
          </a:p>
          <a:p>
            <a:r>
              <a:rPr lang="en-US" dirty="0">
                <a:solidFill>
                  <a:schemeClr val="accent4"/>
                </a:solidFill>
              </a:rPr>
              <a:t>Metrics                       Gmail Integration             Text Emails Only</a:t>
            </a:r>
          </a:p>
        </p:txBody>
      </p:sp>
    </p:spTree>
    <p:extLst>
      <p:ext uri="{BB962C8B-B14F-4D97-AF65-F5344CB8AC3E}">
        <p14:creationId xmlns:p14="http://schemas.microsoft.com/office/powerpoint/2010/main" val="22391943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2C323-31CB-3F0A-8E22-D3BF52C516E4}"/>
              </a:ext>
            </a:extLst>
          </p:cNvPr>
          <p:cNvSpPr>
            <a:spLocks noGrp="1"/>
          </p:cNvSpPr>
          <p:nvPr>
            <p:ph type="title"/>
          </p:nvPr>
        </p:nvSpPr>
        <p:spPr/>
        <p:txBody>
          <a:bodyPr/>
          <a:lstStyle/>
          <a:p>
            <a:r>
              <a:rPr lang="en-IN" dirty="0"/>
              <a:t>Literature Review / Existing System</a:t>
            </a:r>
          </a:p>
        </p:txBody>
      </p:sp>
      <p:sp>
        <p:nvSpPr>
          <p:cNvPr id="4" name="Rectangle 1">
            <a:extLst>
              <a:ext uri="{FF2B5EF4-FFF2-40B4-BE49-F238E27FC236}">
                <a16:creationId xmlns:a16="http://schemas.microsoft.com/office/drawing/2014/main" id="{112865FB-3B6E-8F6F-7C4B-FE83EA29652A}"/>
              </a:ext>
            </a:extLst>
          </p:cNvPr>
          <p:cNvSpPr>
            <a:spLocks noGrp="1" noChangeArrowheads="1"/>
          </p:cNvSpPr>
          <p:nvPr>
            <p:ph idx="1"/>
          </p:nvPr>
        </p:nvSpPr>
        <p:spPr bwMode="auto">
          <a:xfrm>
            <a:off x="810802" y="1463560"/>
            <a:ext cx="10757023" cy="4738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800" b="1" dirty="0"/>
              <a:t>Summary of Related Works</a:t>
            </a:r>
          </a:p>
          <a:p>
            <a:pPr>
              <a:buFont typeface="Wingdings" panose="05000000000000000000" pitchFamily="2" charset="2"/>
              <a:buChar char="Ø"/>
            </a:pPr>
            <a:r>
              <a:rPr lang="en-US" sz="1800" b="1" dirty="0"/>
              <a:t>1. Rule-Based Spam Filtering</a:t>
            </a:r>
            <a:endParaRPr lang="en-US" sz="1800" dirty="0"/>
          </a:p>
          <a:p>
            <a:pPr>
              <a:buFont typeface="Wingdings" panose="05000000000000000000" pitchFamily="2" charset="2"/>
              <a:buChar char="q"/>
            </a:pPr>
            <a:r>
              <a:rPr lang="en-US" sz="1800" dirty="0"/>
              <a:t>Early spam detection systems used predefined rules and keywords to identify spam emails.</a:t>
            </a:r>
          </a:p>
          <a:p>
            <a:pPr>
              <a:buFont typeface="Wingdings" panose="05000000000000000000" pitchFamily="2" charset="2"/>
              <a:buChar char="q"/>
            </a:pPr>
            <a:r>
              <a:rPr lang="en-US" sz="1800" dirty="0"/>
              <a:t>These methods were simple and easy to implement but required frequent manual updates.</a:t>
            </a:r>
          </a:p>
          <a:p>
            <a:pPr>
              <a:buFont typeface="Wingdings" panose="05000000000000000000" pitchFamily="2" charset="2"/>
              <a:buChar char="Ø"/>
            </a:pPr>
            <a:r>
              <a:rPr lang="en-US" sz="1800" b="1" dirty="0"/>
              <a:t>2. Machine Learning-Based Spam Detection</a:t>
            </a:r>
            <a:endParaRPr lang="en-US" sz="1800" dirty="0"/>
          </a:p>
          <a:p>
            <a:pPr>
              <a:buFont typeface="Wingdings" panose="05000000000000000000" pitchFamily="2" charset="2"/>
              <a:buChar char="q"/>
            </a:pPr>
            <a:r>
              <a:rPr lang="en-US" sz="1800" dirty="0"/>
              <a:t>Researchers introduced Machine Learning algorithms such as </a:t>
            </a:r>
            <a:r>
              <a:rPr lang="en-US" sz="1800" b="1" dirty="0"/>
              <a:t>Naive Bayes</a:t>
            </a:r>
            <a:r>
              <a:rPr lang="en-US" sz="1800" dirty="0"/>
              <a:t>, </a:t>
            </a:r>
            <a:r>
              <a:rPr lang="en-US" sz="1800" b="1" dirty="0"/>
              <a:t>Support Vector Machine (SVM)</a:t>
            </a:r>
            <a:r>
              <a:rPr lang="en-US" sz="1800" dirty="0"/>
              <a:t>, and </a:t>
            </a:r>
            <a:r>
              <a:rPr lang="en-US" sz="1800" b="1" dirty="0"/>
              <a:t>Logistic Regression</a:t>
            </a:r>
            <a:r>
              <a:rPr lang="en-US" sz="1800" dirty="0"/>
              <a:t> to improve spam detection.</a:t>
            </a:r>
          </a:p>
          <a:p>
            <a:pPr>
              <a:buFont typeface="Wingdings" panose="05000000000000000000" pitchFamily="2" charset="2"/>
              <a:buChar char="q"/>
            </a:pPr>
            <a:r>
              <a:rPr lang="en-US" sz="1800" dirty="0"/>
              <a:t>These models learn from previously labelled email data and provide better accuracy than rule-based methods.</a:t>
            </a:r>
          </a:p>
          <a:p>
            <a:pPr>
              <a:buFont typeface="Wingdings" panose="05000000000000000000" pitchFamily="2" charset="2"/>
              <a:buChar char="Ø"/>
            </a:pPr>
            <a:r>
              <a:rPr lang="en-US" sz="1800" b="1" dirty="0"/>
              <a:t>3. Natural Language Processing (NLP) Techniques</a:t>
            </a:r>
            <a:endParaRPr lang="en-US" sz="1800" dirty="0"/>
          </a:p>
          <a:p>
            <a:pPr>
              <a:buFont typeface="Wingdings" panose="05000000000000000000" pitchFamily="2" charset="2"/>
              <a:buChar char="q"/>
            </a:pPr>
            <a:r>
              <a:rPr lang="en-US" sz="1800" dirty="0"/>
              <a:t>Recent studies use NLP techniques such as </a:t>
            </a:r>
            <a:r>
              <a:rPr lang="en-US" sz="1800" b="1" dirty="0"/>
              <a:t>TF-IDF</a:t>
            </a:r>
            <a:r>
              <a:rPr lang="en-US" sz="1800" dirty="0"/>
              <a:t> for feature extraction before applying Machine Learning algorithms.</a:t>
            </a:r>
          </a:p>
          <a:p>
            <a:pPr>
              <a:buFont typeface="Wingdings" panose="05000000000000000000" pitchFamily="2" charset="2"/>
              <a:buChar char="q"/>
            </a:pPr>
            <a:r>
              <a:rPr lang="en-US" sz="1800" dirty="0"/>
              <a:t>This approach improves the classification of spam and legitimate emails by analyzing the content of email messages.</a:t>
            </a:r>
          </a:p>
        </p:txBody>
      </p:sp>
    </p:spTree>
    <p:extLst>
      <p:ext uri="{BB962C8B-B14F-4D97-AF65-F5344CB8AC3E}">
        <p14:creationId xmlns:p14="http://schemas.microsoft.com/office/powerpoint/2010/main" val="5524070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E62B136-EDC3-FCC7-E114-48764C10EEBE}"/>
              </a:ext>
            </a:extLst>
          </p:cNvPr>
          <p:cNvSpPr txBox="1"/>
          <p:nvPr/>
        </p:nvSpPr>
        <p:spPr>
          <a:xfrm>
            <a:off x="811658" y="852755"/>
            <a:ext cx="10037852" cy="3231654"/>
          </a:xfrm>
          <a:prstGeom prst="rect">
            <a:avLst/>
          </a:prstGeom>
          <a:noFill/>
        </p:spPr>
        <p:txBody>
          <a:bodyPr wrap="square">
            <a:spAutoFit/>
          </a:bodyPr>
          <a:lstStyle/>
          <a:p>
            <a:pPr>
              <a:buNone/>
            </a:pPr>
            <a:r>
              <a:rPr lang="en-US" sz="2400" b="1" dirty="0"/>
              <a:t>Limitations of Existing Approaches</a:t>
            </a:r>
          </a:p>
          <a:p>
            <a:pPr marL="285750" indent="-285750">
              <a:buFont typeface="Wingdings" panose="05000000000000000000" pitchFamily="2" charset="2"/>
              <a:buChar char="§"/>
            </a:pPr>
            <a:r>
              <a:rPr lang="en-US" dirty="0"/>
              <a:t>Rule-based systems cannot detect newly emerging spam patterns.</a:t>
            </a:r>
          </a:p>
          <a:p>
            <a:pPr marL="285750" indent="-285750">
              <a:buFont typeface="Wingdings" panose="05000000000000000000" pitchFamily="2" charset="2"/>
              <a:buChar char="§"/>
            </a:pPr>
            <a:r>
              <a:rPr lang="en-US" dirty="0"/>
              <a:t>Some Machine Learning models require large datasets and high computational resources.</a:t>
            </a:r>
          </a:p>
          <a:p>
            <a:pPr marL="285750" indent="-285750">
              <a:buFont typeface="Wingdings" panose="05000000000000000000" pitchFamily="2" charset="2"/>
              <a:buChar char="§"/>
            </a:pPr>
            <a:r>
              <a:rPr lang="en-US" dirty="0"/>
              <a:t>Deep Learning models provide high accuracy but need more training time and powerful hardware.</a:t>
            </a:r>
          </a:p>
          <a:p>
            <a:pPr marL="285750" indent="-285750">
              <a:buFont typeface="Wingdings" panose="05000000000000000000" pitchFamily="2" charset="2"/>
              <a:buChar char="§"/>
            </a:pPr>
            <a:r>
              <a:rPr lang="en-US" dirty="0"/>
              <a:t>Some existing systems support only English text and may not detect image-based or attachment-based spam.</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p:txBody>
      </p:sp>
      <p:graphicFrame>
        <p:nvGraphicFramePr>
          <p:cNvPr id="8" name="Table 7">
            <a:extLst>
              <a:ext uri="{FF2B5EF4-FFF2-40B4-BE49-F238E27FC236}">
                <a16:creationId xmlns:a16="http://schemas.microsoft.com/office/drawing/2014/main" id="{5FE91136-3987-44D5-D386-C6D9723382CA}"/>
              </a:ext>
            </a:extLst>
          </p:cNvPr>
          <p:cNvGraphicFramePr>
            <a:graphicFrameLocks noGrp="1"/>
          </p:cNvGraphicFramePr>
          <p:nvPr>
            <p:extLst>
              <p:ext uri="{D42A27DB-BD31-4B8C-83A1-F6EECF244321}">
                <p14:modId xmlns:p14="http://schemas.microsoft.com/office/powerpoint/2010/main" val="2909453295"/>
              </p:ext>
            </p:extLst>
          </p:nvPr>
        </p:nvGraphicFramePr>
        <p:xfrm>
          <a:off x="838200" y="2858294"/>
          <a:ext cx="10515600" cy="2286000"/>
        </p:xfrm>
        <a:graphic>
          <a:graphicData uri="http://schemas.openxmlformats.org/drawingml/2006/table">
            <a:tbl>
              <a:tblPr>
                <a:tableStyleId>{0505E3EF-67EA-436B-97B2-0124C06EBD24}</a:tableStyleId>
              </a:tblPr>
              <a:tblGrid>
                <a:gridCol w="3505200">
                  <a:extLst>
                    <a:ext uri="{9D8B030D-6E8A-4147-A177-3AD203B41FA5}">
                      <a16:colId xmlns:a16="http://schemas.microsoft.com/office/drawing/2014/main" val="3894442896"/>
                    </a:ext>
                  </a:extLst>
                </a:gridCol>
                <a:gridCol w="3505200">
                  <a:extLst>
                    <a:ext uri="{9D8B030D-6E8A-4147-A177-3AD203B41FA5}">
                      <a16:colId xmlns:a16="http://schemas.microsoft.com/office/drawing/2014/main" val="2702578416"/>
                    </a:ext>
                  </a:extLst>
                </a:gridCol>
                <a:gridCol w="3505200">
                  <a:extLst>
                    <a:ext uri="{9D8B030D-6E8A-4147-A177-3AD203B41FA5}">
                      <a16:colId xmlns:a16="http://schemas.microsoft.com/office/drawing/2014/main" val="1486647653"/>
                    </a:ext>
                  </a:extLst>
                </a:gridCol>
              </a:tblGrid>
              <a:tr h="0">
                <a:tc>
                  <a:txBody>
                    <a:bodyPr/>
                    <a:lstStyle/>
                    <a:p>
                      <a:pPr>
                        <a:buNone/>
                      </a:pPr>
                      <a:r>
                        <a:rPr lang="en-US"/>
                        <a:t>Method</a:t>
                      </a:r>
                    </a:p>
                  </a:txBody>
                  <a:tcPr anchor="ctr"/>
                </a:tc>
                <a:tc>
                  <a:txBody>
                    <a:bodyPr/>
                    <a:lstStyle/>
                    <a:p>
                      <a:pPr>
                        <a:buNone/>
                      </a:pPr>
                      <a:r>
                        <a:rPr lang="en-US"/>
                        <a:t>Advantages</a:t>
                      </a:r>
                    </a:p>
                  </a:txBody>
                  <a:tcPr anchor="ctr"/>
                </a:tc>
                <a:tc>
                  <a:txBody>
                    <a:bodyPr/>
                    <a:lstStyle/>
                    <a:p>
                      <a:pPr>
                        <a:buNone/>
                      </a:pPr>
                      <a:r>
                        <a:rPr lang="en-US"/>
                        <a:t>Limitations</a:t>
                      </a:r>
                    </a:p>
                  </a:txBody>
                  <a:tcPr anchor="ctr"/>
                </a:tc>
                <a:extLst>
                  <a:ext uri="{0D108BD9-81ED-4DB2-BD59-A6C34878D82A}">
                    <a16:rowId xmlns:a16="http://schemas.microsoft.com/office/drawing/2014/main" val="3522769880"/>
                  </a:ext>
                </a:extLst>
              </a:tr>
              <a:tr h="0">
                <a:tc>
                  <a:txBody>
                    <a:bodyPr/>
                    <a:lstStyle/>
                    <a:p>
                      <a:pPr>
                        <a:buNone/>
                      </a:pPr>
                      <a:r>
                        <a:rPr lang="en-US" dirty="0"/>
                        <a:t>Rule-Based Filtering</a:t>
                      </a:r>
                    </a:p>
                  </a:txBody>
                  <a:tcPr anchor="ctr"/>
                </a:tc>
                <a:tc>
                  <a:txBody>
                    <a:bodyPr/>
                    <a:lstStyle/>
                    <a:p>
                      <a:pPr>
                        <a:buNone/>
                      </a:pPr>
                      <a:r>
                        <a:rPr lang="en-US"/>
                        <a:t>Simple and easy to implement</a:t>
                      </a:r>
                    </a:p>
                  </a:txBody>
                  <a:tcPr anchor="ctr"/>
                </a:tc>
                <a:tc>
                  <a:txBody>
                    <a:bodyPr/>
                    <a:lstStyle/>
                    <a:p>
                      <a:pPr>
                        <a:buNone/>
                      </a:pPr>
                      <a:r>
                        <a:rPr lang="en-US"/>
                        <a:t>Cannot detect new spam patterns</a:t>
                      </a:r>
                    </a:p>
                  </a:txBody>
                  <a:tcPr anchor="ctr"/>
                </a:tc>
                <a:extLst>
                  <a:ext uri="{0D108BD9-81ED-4DB2-BD59-A6C34878D82A}">
                    <a16:rowId xmlns:a16="http://schemas.microsoft.com/office/drawing/2014/main" val="3259238344"/>
                  </a:ext>
                </a:extLst>
              </a:tr>
              <a:tr h="0">
                <a:tc>
                  <a:txBody>
                    <a:bodyPr/>
                    <a:lstStyle/>
                    <a:p>
                      <a:pPr>
                        <a:buNone/>
                      </a:pPr>
                      <a:r>
                        <a:rPr lang="en-US"/>
                        <a:t>Machine Learning</a:t>
                      </a:r>
                    </a:p>
                  </a:txBody>
                  <a:tcPr anchor="ctr"/>
                </a:tc>
                <a:tc>
                  <a:txBody>
                    <a:bodyPr/>
                    <a:lstStyle/>
                    <a:p>
                      <a:pPr>
                        <a:buNone/>
                      </a:pPr>
                      <a:r>
                        <a:rPr lang="en-US"/>
                        <a:t>Better accuracy and automatic learning</a:t>
                      </a:r>
                    </a:p>
                  </a:txBody>
                  <a:tcPr anchor="ctr"/>
                </a:tc>
                <a:tc>
                  <a:txBody>
                    <a:bodyPr/>
                    <a:lstStyle/>
                    <a:p>
                      <a:pPr>
                        <a:buNone/>
                      </a:pPr>
                      <a:r>
                        <a:rPr lang="en-US"/>
                        <a:t>Requires labelled training data</a:t>
                      </a:r>
                    </a:p>
                  </a:txBody>
                  <a:tcPr anchor="ctr"/>
                </a:tc>
                <a:extLst>
                  <a:ext uri="{0D108BD9-81ED-4DB2-BD59-A6C34878D82A}">
                    <a16:rowId xmlns:a16="http://schemas.microsoft.com/office/drawing/2014/main" val="1277616545"/>
                  </a:ext>
                </a:extLst>
              </a:tr>
              <a:tr h="0">
                <a:tc>
                  <a:txBody>
                    <a:bodyPr/>
                    <a:lstStyle/>
                    <a:p>
                      <a:pPr>
                        <a:buNone/>
                      </a:pPr>
                      <a:r>
                        <a:rPr lang="en-US"/>
                        <a:t>NLP + Machine Learning</a:t>
                      </a:r>
                    </a:p>
                  </a:txBody>
                  <a:tcPr anchor="ctr"/>
                </a:tc>
                <a:tc>
                  <a:txBody>
                    <a:bodyPr/>
                    <a:lstStyle/>
                    <a:p>
                      <a:pPr>
                        <a:buNone/>
                      </a:pPr>
                      <a:r>
                        <a:rPr lang="en-US"/>
                        <a:t>Improved text understanding and classification</a:t>
                      </a:r>
                    </a:p>
                  </a:txBody>
                  <a:tcPr anchor="ctr"/>
                </a:tc>
                <a:tc>
                  <a:txBody>
                    <a:bodyPr/>
                    <a:lstStyle/>
                    <a:p>
                      <a:pPr>
                        <a:buNone/>
                      </a:pPr>
                      <a:r>
                        <a:rPr lang="en-US" dirty="0"/>
                        <a:t>Higher processing time than rule-based methods</a:t>
                      </a:r>
                    </a:p>
                  </a:txBody>
                  <a:tcPr anchor="ctr"/>
                </a:tc>
                <a:extLst>
                  <a:ext uri="{0D108BD9-81ED-4DB2-BD59-A6C34878D82A}">
                    <a16:rowId xmlns:a16="http://schemas.microsoft.com/office/drawing/2014/main" val="481848818"/>
                  </a:ext>
                </a:extLst>
              </a:tr>
            </a:tbl>
          </a:graphicData>
        </a:graphic>
      </p:graphicFrame>
    </p:spTree>
    <p:extLst>
      <p:ext uri="{BB962C8B-B14F-4D97-AF65-F5344CB8AC3E}">
        <p14:creationId xmlns:p14="http://schemas.microsoft.com/office/powerpoint/2010/main" val="21187747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CB80E-F60A-9326-6528-277648B27F3F}"/>
              </a:ext>
            </a:extLst>
          </p:cNvPr>
          <p:cNvSpPr>
            <a:spLocks noGrp="1"/>
          </p:cNvSpPr>
          <p:nvPr>
            <p:ph type="title"/>
          </p:nvPr>
        </p:nvSpPr>
        <p:spPr/>
        <p:txBody>
          <a:bodyPr/>
          <a:lstStyle/>
          <a:p>
            <a:r>
              <a:rPr lang="en-IN" dirty="0"/>
              <a:t>Proposed System</a:t>
            </a:r>
          </a:p>
        </p:txBody>
      </p:sp>
      <p:sp>
        <p:nvSpPr>
          <p:cNvPr id="4" name="Rectangle 1">
            <a:extLst>
              <a:ext uri="{FF2B5EF4-FFF2-40B4-BE49-F238E27FC236}">
                <a16:creationId xmlns:a16="http://schemas.microsoft.com/office/drawing/2014/main" id="{8324EED9-8B6B-7CAC-9011-17B1859177C7}"/>
              </a:ext>
            </a:extLst>
          </p:cNvPr>
          <p:cNvSpPr>
            <a:spLocks noGrp="1" noChangeArrowheads="1"/>
          </p:cNvSpPr>
          <p:nvPr>
            <p:ph idx="1"/>
          </p:nvPr>
        </p:nvSpPr>
        <p:spPr bwMode="auto">
          <a:xfrm>
            <a:off x="637689" y="1306803"/>
            <a:ext cx="10643933" cy="4827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dirty="0"/>
              <a:t>Overview of the Proposed Solution</a:t>
            </a:r>
          </a:p>
          <a:p>
            <a:pPr>
              <a:buFont typeface="Wingdings" panose="05000000000000000000" pitchFamily="2" charset="2"/>
              <a:buChar char="v"/>
            </a:pPr>
            <a:r>
              <a:rPr lang="en-US" sz="1800" dirty="0"/>
              <a:t>The proposed system is an </a:t>
            </a:r>
            <a:r>
              <a:rPr lang="en-US" sz="1800" b="1" dirty="0"/>
              <a:t>Email Spam Detection System</a:t>
            </a:r>
            <a:r>
              <a:rPr lang="en-US" sz="1800" dirty="0"/>
              <a:t> developed using </a:t>
            </a:r>
            <a:r>
              <a:rPr lang="en-US" sz="1800" b="1" dirty="0"/>
              <a:t>Machine Learning</a:t>
            </a:r>
            <a:r>
              <a:rPr lang="en-US" sz="1800" dirty="0"/>
              <a:t>. It automatically classifies incoming emails as </a:t>
            </a:r>
            <a:r>
              <a:rPr lang="en-US" sz="1800" b="1" dirty="0"/>
              <a:t>Spam</a:t>
            </a:r>
            <a:r>
              <a:rPr lang="en-US" sz="1800" dirty="0"/>
              <a:t> or </a:t>
            </a:r>
            <a:r>
              <a:rPr lang="en-US" sz="1800" b="1" dirty="0"/>
              <a:t>Ham (Legitimate Email)</a:t>
            </a:r>
            <a:r>
              <a:rPr lang="en-US" sz="1800" dirty="0"/>
              <a:t>. The system first preprocesses the email text by removing unnecessary words and symbols. Then, the </a:t>
            </a:r>
            <a:r>
              <a:rPr lang="en-US" sz="1800" b="1" dirty="0"/>
              <a:t>TF-IDF</a:t>
            </a:r>
            <a:r>
              <a:rPr lang="en-US" sz="1800" dirty="0"/>
              <a:t> technique converts the text into numerical features. Finally, the </a:t>
            </a:r>
            <a:r>
              <a:rPr lang="en-US" sz="1800" b="1" dirty="0"/>
              <a:t>Multinomial Naive Bayes</a:t>
            </a:r>
            <a:r>
              <a:rPr lang="en-US" sz="1800" dirty="0"/>
              <a:t> algorithm analyzes these features and predicts whether the email is spam or not.</a:t>
            </a:r>
          </a:p>
          <a:p>
            <a:r>
              <a:rPr lang="en-US" b="1" dirty="0"/>
              <a:t>Key Features</a:t>
            </a:r>
          </a:p>
          <a:p>
            <a:pPr>
              <a:buFont typeface="Wingdings" panose="05000000000000000000" pitchFamily="2" charset="2"/>
              <a:buChar char="v"/>
            </a:pPr>
            <a:r>
              <a:rPr lang="en-US" sz="1800" dirty="0"/>
              <a:t>Automatically classifies emails as </a:t>
            </a:r>
            <a:r>
              <a:rPr lang="en-US" sz="1800" b="1" dirty="0"/>
              <a:t>Spam</a:t>
            </a:r>
            <a:r>
              <a:rPr lang="en-US" sz="1800" dirty="0"/>
              <a:t> or </a:t>
            </a:r>
            <a:r>
              <a:rPr lang="en-US" sz="1800" b="1" dirty="0"/>
              <a:t>Ham</a:t>
            </a:r>
            <a:r>
              <a:rPr lang="en-US" sz="1800" dirty="0"/>
              <a:t>.</a:t>
            </a:r>
          </a:p>
          <a:p>
            <a:pPr>
              <a:buFont typeface="Wingdings" panose="05000000000000000000" pitchFamily="2" charset="2"/>
              <a:buChar char="v"/>
            </a:pPr>
            <a:r>
              <a:rPr lang="en-US" sz="1800" dirty="0"/>
              <a:t>Uses </a:t>
            </a:r>
            <a:r>
              <a:rPr lang="en-US" sz="1800" b="1" dirty="0"/>
              <a:t>TF-IDF</a:t>
            </a:r>
            <a:r>
              <a:rPr lang="en-US" sz="1800" dirty="0"/>
              <a:t> for effective text feature extraction.</a:t>
            </a:r>
          </a:p>
          <a:p>
            <a:pPr>
              <a:buFont typeface="Wingdings" panose="05000000000000000000" pitchFamily="2" charset="2"/>
              <a:buChar char="v"/>
            </a:pPr>
            <a:r>
              <a:rPr lang="en-US" sz="1800" dirty="0"/>
              <a:t>Applies the </a:t>
            </a:r>
            <a:r>
              <a:rPr lang="en-US" sz="1800" b="1" dirty="0"/>
              <a:t>Multinomial Naive Bayes</a:t>
            </a:r>
            <a:r>
              <a:rPr lang="en-US" sz="1800" dirty="0"/>
              <a:t> algorithm for fast and accurate classification.</a:t>
            </a:r>
          </a:p>
          <a:p>
            <a:pPr>
              <a:buFont typeface="Wingdings" panose="05000000000000000000" pitchFamily="2" charset="2"/>
              <a:buChar char="v"/>
            </a:pPr>
            <a:r>
              <a:rPr lang="en-US" sz="1800" dirty="0"/>
              <a:t>Reduces manual effort by automatically filtering unwanted emails.</a:t>
            </a:r>
          </a:p>
          <a:p>
            <a:pPr>
              <a:buFont typeface="Wingdings" panose="05000000000000000000" pitchFamily="2" charset="2"/>
              <a:buChar char="v"/>
            </a:pPr>
            <a:r>
              <a:rPr lang="en-US" sz="1800" dirty="0"/>
              <a:t>Provides reliable performance with approximately </a:t>
            </a:r>
            <a:r>
              <a:rPr lang="en-US" sz="1800" b="1" dirty="0"/>
              <a:t>90% accuracy</a:t>
            </a:r>
            <a:r>
              <a:rPr lang="en-US" dirty="0"/>
              <a:t>.</a:t>
            </a:r>
          </a:p>
          <a:p>
            <a:pPr eaLnBrk="0" fontAlgn="base" hangingPunct="0">
              <a:lnSpc>
                <a:spcPct val="100000"/>
              </a:lnSpc>
              <a:spcBef>
                <a:spcPct val="0"/>
              </a:spcBef>
              <a:spcAft>
                <a:spcPct val="0"/>
              </a:spcAft>
            </a:pPr>
            <a:endParaRPr lang="en-US" altLang="en-US" dirty="0">
              <a:ea typeface="+mn-lt"/>
              <a:cs typeface="+mn-lt"/>
            </a:endParaRPr>
          </a:p>
        </p:txBody>
      </p:sp>
    </p:spTree>
    <p:extLst>
      <p:ext uri="{BB962C8B-B14F-4D97-AF65-F5344CB8AC3E}">
        <p14:creationId xmlns:p14="http://schemas.microsoft.com/office/powerpoint/2010/main" val="31081801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34110-8443-B520-620A-F3C4829EB97E}"/>
              </a:ext>
            </a:extLst>
          </p:cNvPr>
          <p:cNvSpPr>
            <a:spLocks noGrp="1"/>
          </p:cNvSpPr>
          <p:nvPr>
            <p:ph type="title"/>
          </p:nvPr>
        </p:nvSpPr>
        <p:spPr/>
        <p:txBody>
          <a:bodyPr/>
          <a:lstStyle/>
          <a:p>
            <a:r>
              <a:rPr lang="en-US" dirty="0"/>
              <a:t>Architecture</a:t>
            </a:r>
            <a:endParaRPr lang="en-IN" dirty="0"/>
          </a:p>
        </p:txBody>
      </p:sp>
      <p:sp>
        <p:nvSpPr>
          <p:cNvPr id="4" name="Rectangle 1">
            <a:extLst>
              <a:ext uri="{FF2B5EF4-FFF2-40B4-BE49-F238E27FC236}">
                <a16:creationId xmlns:a16="http://schemas.microsoft.com/office/drawing/2014/main" id="{D021F7E1-6253-32B1-7271-AC459A477F4C}"/>
              </a:ext>
            </a:extLst>
          </p:cNvPr>
          <p:cNvSpPr>
            <a:spLocks noGrp="1" noChangeArrowheads="1"/>
          </p:cNvSpPr>
          <p:nvPr>
            <p:ph idx="1"/>
          </p:nvPr>
        </p:nvSpPr>
        <p:spPr bwMode="auto">
          <a:xfrm>
            <a:off x="1055835" y="1655615"/>
            <a:ext cx="8673791" cy="3908762"/>
          </a:xfrm>
          <a:prstGeom prst="rect">
            <a:avLst/>
          </a:prstGeom>
          <a:solidFill>
            <a:schemeClr val="bg2"/>
          </a:solidFill>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lang="en-US" altLang="en-US" dirty="0">
                <a:ea typeface="+mn-lt"/>
                <a:cs typeface="+mn-lt"/>
              </a:rPr>
              <a:t>  Architecture diagram: </a:t>
            </a:r>
          </a:p>
          <a:p>
            <a:pPr marL="0" lvl="0" indent="0" eaLnBrk="0" fontAlgn="base" hangingPunct="0">
              <a:lnSpc>
                <a:spcPct val="100000"/>
              </a:lnSpc>
              <a:spcBef>
                <a:spcPct val="0"/>
              </a:spcBef>
              <a:spcAft>
                <a:spcPct val="0"/>
              </a:spcAft>
              <a:buNone/>
            </a:pPr>
            <a:r>
              <a:rPr lang="en-US" sz="2000" dirty="0"/>
              <a:t>  Email Dataset </a:t>
            </a:r>
          </a:p>
          <a:p>
            <a:pPr marL="0" lvl="0" indent="0" eaLnBrk="0" fontAlgn="base" hangingPunct="0">
              <a:lnSpc>
                <a:spcPct val="100000"/>
              </a:lnSpc>
              <a:spcBef>
                <a:spcPct val="0"/>
              </a:spcBef>
              <a:spcAft>
                <a:spcPct val="0"/>
              </a:spcAft>
              <a:buNone/>
            </a:pPr>
            <a:r>
              <a:rPr lang="en-US" sz="2000" dirty="0"/>
              <a:t>           </a:t>
            </a:r>
          </a:p>
          <a:p>
            <a:pPr marL="0" lvl="0" indent="0" eaLnBrk="0" fontAlgn="base" hangingPunct="0">
              <a:lnSpc>
                <a:spcPct val="100000"/>
              </a:lnSpc>
              <a:spcBef>
                <a:spcPct val="0"/>
              </a:spcBef>
              <a:spcAft>
                <a:spcPct val="0"/>
              </a:spcAft>
              <a:buNone/>
            </a:pPr>
            <a:r>
              <a:rPr lang="en-US" sz="2000" dirty="0"/>
              <a:t>  Data Preprocessing (Lowercase, Remove Symbols,    Stop Words) </a:t>
            </a:r>
          </a:p>
          <a:p>
            <a:pPr marL="0" lvl="0" indent="0" eaLnBrk="0" fontAlgn="base" hangingPunct="0">
              <a:lnSpc>
                <a:spcPct val="100000"/>
              </a:lnSpc>
              <a:spcBef>
                <a:spcPct val="0"/>
              </a:spcBef>
              <a:spcAft>
                <a:spcPct val="0"/>
              </a:spcAft>
              <a:buNone/>
            </a:pPr>
            <a:r>
              <a:rPr lang="en-US" sz="2000" dirty="0"/>
              <a:t>                </a:t>
            </a:r>
          </a:p>
          <a:p>
            <a:pPr marL="0" lvl="0" indent="0" eaLnBrk="0" fontAlgn="base" hangingPunct="0">
              <a:lnSpc>
                <a:spcPct val="100000"/>
              </a:lnSpc>
              <a:spcBef>
                <a:spcPct val="0"/>
              </a:spcBef>
              <a:spcAft>
                <a:spcPct val="0"/>
              </a:spcAft>
              <a:buNone/>
            </a:pPr>
            <a:r>
              <a:rPr lang="en-US" sz="2000" dirty="0"/>
              <a:t> TF-IDF Feature Extraction </a:t>
            </a:r>
          </a:p>
          <a:p>
            <a:pPr marL="0" lvl="0" indent="0" eaLnBrk="0" fontAlgn="base" hangingPunct="0">
              <a:lnSpc>
                <a:spcPct val="100000"/>
              </a:lnSpc>
              <a:spcBef>
                <a:spcPct val="0"/>
              </a:spcBef>
              <a:spcAft>
                <a:spcPct val="0"/>
              </a:spcAft>
              <a:buNone/>
            </a:pPr>
            <a:r>
              <a:rPr lang="en-US" sz="2000" dirty="0"/>
              <a:t>                </a:t>
            </a:r>
          </a:p>
          <a:p>
            <a:pPr marL="0" lvl="0" indent="0" eaLnBrk="0" fontAlgn="base" hangingPunct="0">
              <a:lnSpc>
                <a:spcPct val="100000"/>
              </a:lnSpc>
              <a:spcBef>
                <a:spcPct val="0"/>
              </a:spcBef>
              <a:spcAft>
                <a:spcPct val="0"/>
              </a:spcAft>
              <a:buNone/>
            </a:pPr>
            <a:r>
              <a:rPr lang="en-US" sz="2000" dirty="0"/>
              <a:t> Multinomial Naive Bayes Model </a:t>
            </a:r>
          </a:p>
          <a:p>
            <a:pPr marL="0" lvl="0" indent="0" eaLnBrk="0" fontAlgn="base" hangingPunct="0">
              <a:lnSpc>
                <a:spcPct val="100000"/>
              </a:lnSpc>
              <a:spcBef>
                <a:spcPct val="0"/>
              </a:spcBef>
              <a:spcAft>
                <a:spcPct val="0"/>
              </a:spcAft>
              <a:buNone/>
            </a:pPr>
            <a:r>
              <a:rPr lang="en-US" sz="2000" dirty="0"/>
              <a:t>               </a:t>
            </a:r>
          </a:p>
          <a:p>
            <a:pPr marL="0" lvl="0" indent="0" eaLnBrk="0" fontAlgn="base" hangingPunct="0">
              <a:lnSpc>
                <a:spcPct val="100000"/>
              </a:lnSpc>
              <a:spcBef>
                <a:spcPct val="0"/>
              </a:spcBef>
              <a:spcAft>
                <a:spcPct val="0"/>
              </a:spcAft>
              <a:buNone/>
            </a:pPr>
            <a:r>
              <a:rPr lang="en-US" sz="2000" dirty="0"/>
              <a:t> Spam / Ham Prediction </a:t>
            </a:r>
          </a:p>
          <a:p>
            <a:pPr marL="0" lvl="0" indent="0" eaLnBrk="0" fontAlgn="base" hangingPunct="0">
              <a:lnSpc>
                <a:spcPct val="100000"/>
              </a:lnSpc>
              <a:spcBef>
                <a:spcPct val="0"/>
              </a:spcBef>
              <a:spcAft>
                <a:spcPct val="0"/>
              </a:spcAft>
              <a:buNone/>
            </a:pPr>
            <a:r>
              <a:rPr lang="en-US" sz="2000" dirty="0"/>
              <a:t>                </a:t>
            </a:r>
          </a:p>
          <a:p>
            <a:pPr marL="0" lvl="0" indent="0" eaLnBrk="0" fontAlgn="base" hangingPunct="0">
              <a:lnSpc>
                <a:spcPct val="100000"/>
              </a:lnSpc>
              <a:spcBef>
                <a:spcPct val="0"/>
              </a:spcBef>
              <a:spcAft>
                <a:spcPct val="0"/>
              </a:spcAft>
              <a:buNone/>
            </a:pPr>
            <a:r>
              <a:rPr lang="en-US" sz="2000" dirty="0"/>
              <a:t> Display Result</a:t>
            </a:r>
            <a:endParaRPr lang="en-US" altLang="en-US" sz="2000" dirty="0">
              <a:ea typeface="+mn-lt"/>
              <a:cs typeface="+mn-lt"/>
            </a:endParaRPr>
          </a:p>
        </p:txBody>
      </p:sp>
      <p:cxnSp>
        <p:nvCxnSpPr>
          <p:cNvPr id="6" name="Straight Arrow Connector 5">
            <a:extLst>
              <a:ext uri="{FF2B5EF4-FFF2-40B4-BE49-F238E27FC236}">
                <a16:creationId xmlns:a16="http://schemas.microsoft.com/office/drawing/2014/main" id="{6761084B-4C49-5822-26EC-7694E6EFDD0E}"/>
              </a:ext>
            </a:extLst>
          </p:cNvPr>
          <p:cNvCxnSpPr/>
          <p:nvPr/>
        </p:nvCxnSpPr>
        <p:spPr>
          <a:xfrm>
            <a:off x="1972638" y="2486346"/>
            <a:ext cx="0" cy="3287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67F9AEA7-9895-F77F-208F-D5B4B1D549E5}"/>
              </a:ext>
            </a:extLst>
          </p:cNvPr>
          <p:cNvCxnSpPr/>
          <p:nvPr/>
        </p:nvCxnSpPr>
        <p:spPr>
          <a:xfrm>
            <a:off x="1972638" y="3030876"/>
            <a:ext cx="0" cy="3184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818C0075-1C1B-39C8-8BBC-D428F9A7075D}"/>
              </a:ext>
            </a:extLst>
          </p:cNvPr>
          <p:cNvCxnSpPr/>
          <p:nvPr/>
        </p:nvCxnSpPr>
        <p:spPr>
          <a:xfrm>
            <a:off x="1972638" y="3626778"/>
            <a:ext cx="0" cy="41096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39E32BEB-A866-B673-CA8B-F387EA1F9E4D}"/>
              </a:ext>
            </a:extLst>
          </p:cNvPr>
          <p:cNvCxnSpPr/>
          <p:nvPr/>
        </p:nvCxnSpPr>
        <p:spPr>
          <a:xfrm>
            <a:off x="1972638" y="4274049"/>
            <a:ext cx="0" cy="3287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06C39B53-83E2-D82F-A3F2-5EF1BAF5C685}"/>
              </a:ext>
            </a:extLst>
          </p:cNvPr>
          <p:cNvCxnSpPr/>
          <p:nvPr/>
        </p:nvCxnSpPr>
        <p:spPr>
          <a:xfrm>
            <a:off x="1972638" y="4890499"/>
            <a:ext cx="0" cy="3390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358462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53428C6-2196-FDAE-83C8-F3FE77682FFD}"/>
              </a:ext>
            </a:extLst>
          </p:cNvPr>
          <p:cNvSpPr txBox="1"/>
          <p:nvPr/>
        </p:nvSpPr>
        <p:spPr>
          <a:xfrm>
            <a:off x="657545" y="339047"/>
            <a:ext cx="11065267" cy="4616648"/>
          </a:xfrm>
          <a:prstGeom prst="rect">
            <a:avLst/>
          </a:prstGeom>
          <a:noFill/>
        </p:spPr>
        <p:txBody>
          <a:bodyPr wrap="square">
            <a:spAutoFit/>
          </a:bodyPr>
          <a:lstStyle/>
          <a:p>
            <a:pPr>
              <a:buNone/>
            </a:pPr>
            <a:r>
              <a:rPr lang="en-US" sz="2400" b="1" dirty="0"/>
              <a:t>Explanation of Components</a:t>
            </a:r>
          </a:p>
          <a:p>
            <a:r>
              <a:rPr lang="en-US" b="1" dirty="0"/>
              <a:t>1. Email Dataset</a:t>
            </a:r>
          </a:p>
          <a:p>
            <a:pPr marL="285750" indent="-285750">
              <a:buFont typeface="Wingdings" panose="05000000000000000000" pitchFamily="2" charset="2"/>
              <a:buChar char="Ø"/>
            </a:pPr>
            <a:r>
              <a:rPr lang="en-US" dirty="0"/>
              <a:t>Contains labelled email messages as </a:t>
            </a:r>
            <a:r>
              <a:rPr lang="en-US" b="1" dirty="0"/>
              <a:t>Spam</a:t>
            </a:r>
            <a:r>
              <a:rPr lang="en-US" dirty="0"/>
              <a:t> or </a:t>
            </a:r>
            <a:r>
              <a:rPr lang="en-US" b="1" dirty="0"/>
              <a:t>Ham</a:t>
            </a:r>
            <a:r>
              <a:rPr lang="en-US" dirty="0"/>
              <a:t>.</a:t>
            </a:r>
          </a:p>
          <a:p>
            <a:pPr marL="285750" indent="-285750">
              <a:buFont typeface="Wingdings" panose="05000000000000000000" pitchFamily="2" charset="2"/>
              <a:buChar char="Ø"/>
            </a:pPr>
            <a:r>
              <a:rPr lang="en-US" dirty="0"/>
              <a:t>Used for training and testing the machine learning model.</a:t>
            </a:r>
          </a:p>
          <a:p>
            <a:r>
              <a:rPr lang="en-US" b="1" dirty="0"/>
              <a:t>2. Data Preprocessing</a:t>
            </a:r>
          </a:p>
          <a:p>
            <a:pPr marL="285750" indent="-285750">
              <a:buFont typeface="Wingdings" panose="05000000000000000000" pitchFamily="2" charset="2"/>
              <a:buChar char="Ø"/>
            </a:pPr>
            <a:r>
              <a:rPr lang="en-US" dirty="0"/>
              <a:t>Cleans the email text by converting it to lowercase.</a:t>
            </a:r>
          </a:p>
          <a:p>
            <a:pPr marL="285750" indent="-285750">
              <a:buFont typeface="Wingdings" panose="05000000000000000000" pitchFamily="2" charset="2"/>
              <a:buChar char="Ø"/>
            </a:pPr>
            <a:r>
              <a:rPr lang="en-US" dirty="0"/>
              <a:t>Removes punctuation, special characters, and stop words.</a:t>
            </a:r>
          </a:p>
          <a:p>
            <a:pPr marL="285750" indent="-285750">
              <a:buFont typeface="Wingdings" panose="05000000000000000000" pitchFamily="2" charset="2"/>
              <a:buChar char="Ø"/>
            </a:pPr>
            <a:r>
              <a:rPr lang="en-US" dirty="0"/>
              <a:t>Prepares the text for feature extraction.</a:t>
            </a:r>
          </a:p>
          <a:p>
            <a:r>
              <a:rPr lang="en-US" b="1" dirty="0"/>
              <a:t>3. TF-IDF Feature Extraction</a:t>
            </a:r>
          </a:p>
          <a:p>
            <a:pPr marL="285750" indent="-285750">
              <a:buFont typeface="Wingdings" panose="05000000000000000000" pitchFamily="2" charset="2"/>
              <a:buChar char="Ø"/>
            </a:pPr>
            <a:r>
              <a:rPr lang="en-US" dirty="0"/>
              <a:t>Converts email text into numerical feature vectors.</a:t>
            </a:r>
          </a:p>
          <a:p>
            <a:pPr marL="285750" indent="-285750">
              <a:buFont typeface="Wingdings" panose="05000000000000000000" pitchFamily="2" charset="2"/>
              <a:buChar char="Ø"/>
            </a:pPr>
            <a:r>
              <a:rPr lang="en-US" dirty="0"/>
              <a:t>Assigns higher importance to meaningful words.</a:t>
            </a:r>
          </a:p>
          <a:p>
            <a:pPr marL="285750" indent="-285750">
              <a:buFont typeface="Wingdings" panose="05000000000000000000" pitchFamily="2" charset="2"/>
              <a:buChar char="Ø"/>
            </a:pPr>
            <a:r>
              <a:rPr lang="en-US" dirty="0"/>
              <a:t>Makes the text suitable for machine learning algorithms.</a:t>
            </a:r>
          </a:p>
          <a:p>
            <a:r>
              <a:rPr lang="en-US" b="1" dirty="0"/>
              <a:t>4. Multinomial Naive Bayes Model</a:t>
            </a:r>
          </a:p>
          <a:p>
            <a:pPr marL="285750" indent="-285750">
              <a:buFont typeface="Wingdings" panose="05000000000000000000" pitchFamily="2" charset="2"/>
              <a:buChar char="Ø"/>
            </a:pPr>
            <a:r>
              <a:rPr lang="en-US" dirty="0"/>
              <a:t>Learns patterns from the training dataset.</a:t>
            </a:r>
          </a:p>
          <a:p>
            <a:pPr marL="285750" indent="-285750">
              <a:buFont typeface="Wingdings" panose="05000000000000000000" pitchFamily="2" charset="2"/>
              <a:buChar char="Ø"/>
            </a:pPr>
            <a:r>
              <a:rPr lang="en-US" dirty="0"/>
              <a:t>Predicts whether an email is Spam or Ham.</a:t>
            </a:r>
          </a:p>
          <a:p>
            <a:pPr marL="285750" indent="-285750">
              <a:buFont typeface="Wingdings" panose="05000000000000000000" pitchFamily="2" charset="2"/>
              <a:buChar char="Ø"/>
            </a:pPr>
            <a:r>
              <a:rPr lang="en-US" dirty="0"/>
              <a:t>Provides fast and efficient text classification.</a:t>
            </a:r>
          </a:p>
        </p:txBody>
      </p:sp>
    </p:spTree>
    <p:extLst>
      <p:ext uri="{BB962C8B-B14F-4D97-AF65-F5344CB8AC3E}">
        <p14:creationId xmlns:p14="http://schemas.microsoft.com/office/powerpoint/2010/main" val="2299183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5F45BC7-C1FA-57CE-E00C-9D7DEC7B0C7B}"/>
              </a:ext>
            </a:extLst>
          </p:cNvPr>
          <p:cNvSpPr txBox="1"/>
          <p:nvPr/>
        </p:nvSpPr>
        <p:spPr>
          <a:xfrm>
            <a:off x="904126" y="636998"/>
            <a:ext cx="10171416" cy="4062651"/>
          </a:xfrm>
          <a:prstGeom prst="rect">
            <a:avLst/>
          </a:prstGeom>
          <a:noFill/>
        </p:spPr>
        <p:txBody>
          <a:bodyPr wrap="square">
            <a:spAutoFit/>
          </a:bodyPr>
          <a:lstStyle/>
          <a:p>
            <a:pPr>
              <a:buNone/>
            </a:pPr>
            <a:r>
              <a:rPr lang="en-US" b="1" dirty="0"/>
              <a:t>5. Spam / Ham Prediction</a:t>
            </a:r>
          </a:p>
          <a:p>
            <a:pPr>
              <a:buFont typeface="Arial" panose="020B0604020202020204" pitchFamily="34" charset="0"/>
              <a:buChar char="•"/>
            </a:pPr>
            <a:r>
              <a:rPr lang="en-US" dirty="0"/>
              <a:t>The trained model classifies the incoming email.</a:t>
            </a:r>
          </a:p>
          <a:p>
            <a:pPr>
              <a:buFont typeface="Arial" panose="020B0604020202020204" pitchFamily="34" charset="0"/>
              <a:buChar char="•"/>
            </a:pPr>
            <a:r>
              <a:rPr lang="en-US" dirty="0"/>
              <a:t>Generates the final prediction as </a:t>
            </a:r>
            <a:r>
              <a:rPr lang="en-US" b="1" dirty="0"/>
              <a:t>Spam</a:t>
            </a:r>
            <a:r>
              <a:rPr lang="en-US" dirty="0"/>
              <a:t> or </a:t>
            </a:r>
            <a:r>
              <a:rPr lang="en-US" b="1" dirty="0"/>
              <a:t>Ham</a:t>
            </a:r>
            <a:r>
              <a:rPr lang="en-US" dirty="0"/>
              <a:t>.</a:t>
            </a:r>
          </a:p>
          <a:p>
            <a:pPr>
              <a:buNone/>
            </a:pPr>
            <a:r>
              <a:rPr lang="en-US" b="1" dirty="0"/>
              <a:t>6. Display Result</a:t>
            </a:r>
          </a:p>
          <a:p>
            <a:pPr>
              <a:buFont typeface="Arial" panose="020B0604020202020204" pitchFamily="34" charset="0"/>
              <a:buChar char="•"/>
            </a:pPr>
            <a:r>
              <a:rPr lang="en-US" dirty="0"/>
              <a:t>Shows the prediction result to the user.</a:t>
            </a:r>
          </a:p>
          <a:p>
            <a:pPr>
              <a:buFont typeface="Arial" panose="020B0604020202020204" pitchFamily="34" charset="0"/>
              <a:buChar char="•"/>
            </a:pPr>
            <a:r>
              <a:rPr lang="en-US" dirty="0"/>
              <a:t>Helps users identify unwanted emails quickly.</a:t>
            </a:r>
          </a:p>
          <a:p>
            <a:pPr>
              <a:buNone/>
            </a:pPr>
            <a:endParaRPr lang="en-US" b="1" dirty="0"/>
          </a:p>
          <a:p>
            <a:pPr>
              <a:buNone/>
            </a:pPr>
            <a:r>
              <a:rPr lang="en-US" sz="2400" b="1" dirty="0"/>
              <a:t>Data Flow</a:t>
            </a:r>
          </a:p>
          <a:p>
            <a:pPr marL="285750" indent="-285750">
              <a:buFont typeface="Wingdings" panose="05000000000000000000" pitchFamily="2" charset="2"/>
              <a:buChar char="Ø"/>
            </a:pPr>
            <a:r>
              <a:rPr lang="en-US" dirty="0"/>
              <a:t>The email dataset is loaded into the system.</a:t>
            </a:r>
          </a:p>
          <a:p>
            <a:pPr marL="285750" indent="-285750">
              <a:buFont typeface="Wingdings" panose="05000000000000000000" pitchFamily="2" charset="2"/>
              <a:buChar char="Ø"/>
            </a:pPr>
            <a:r>
              <a:rPr lang="en-US" dirty="0"/>
              <a:t>The email text is preprocessed by removing unwanted characters and stop words.</a:t>
            </a:r>
          </a:p>
          <a:p>
            <a:pPr marL="285750" indent="-285750">
              <a:buFont typeface="Wingdings" panose="05000000000000000000" pitchFamily="2" charset="2"/>
              <a:buChar char="Ø"/>
            </a:pPr>
            <a:r>
              <a:rPr lang="en-US" dirty="0"/>
              <a:t>TF-IDF converts the cleaned text into numerical features.</a:t>
            </a:r>
          </a:p>
          <a:p>
            <a:pPr marL="285750" indent="-285750">
              <a:buFont typeface="Wingdings" panose="05000000000000000000" pitchFamily="2" charset="2"/>
              <a:buChar char="Ø"/>
            </a:pPr>
            <a:r>
              <a:rPr lang="en-US" dirty="0"/>
              <a:t>The Multinomial Naive Bayes model processes these features.</a:t>
            </a:r>
          </a:p>
          <a:p>
            <a:pPr marL="285750" indent="-285750">
              <a:buFont typeface="Wingdings" panose="05000000000000000000" pitchFamily="2" charset="2"/>
              <a:buChar char="Ø"/>
            </a:pPr>
            <a:r>
              <a:rPr lang="en-US" dirty="0"/>
              <a:t>The system predicts whether the email is </a:t>
            </a:r>
            <a:r>
              <a:rPr lang="en-US" b="1" dirty="0"/>
              <a:t>Spam</a:t>
            </a:r>
            <a:r>
              <a:rPr lang="en-US" dirty="0"/>
              <a:t> or </a:t>
            </a:r>
            <a:r>
              <a:rPr lang="en-US" b="1" dirty="0"/>
              <a:t>Ham</a:t>
            </a:r>
            <a:r>
              <a:rPr lang="en-US" dirty="0"/>
              <a:t>.</a:t>
            </a:r>
          </a:p>
          <a:p>
            <a:pPr marL="285750" indent="-285750">
              <a:buFont typeface="Wingdings" panose="05000000000000000000" pitchFamily="2" charset="2"/>
              <a:buChar char="Ø"/>
            </a:pPr>
            <a:r>
              <a:rPr lang="en-US" dirty="0"/>
              <a:t>The prediction result is displayed to the user.</a:t>
            </a:r>
          </a:p>
        </p:txBody>
      </p:sp>
    </p:spTree>
    <p:extLst>
      <p:ext uri="{BB962C8B-B14F-4D97-AF65-F5344CB8AC3E}">
        <p14:creationId xmlns:p14="http://schemas.microsoft.com/office/powerpoint/2010/main" val="20828853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53143-E5A0-C692-2071-8CB109D4127B}"/>
              </a:ext>
            </a:extLst>
          </p:cNvPr>
          <p:cNvSpPr>
            <a:spLocks noGrp="1"/>
          </p:cNvSpPr>
          <p:nvPr>
            <p:ph type="title"/>
          </p:nvPr>
        </p:nvSpPr>
        <p:spPr/>
        <p:txBody>
          <a:bodyPr/>
          <a:lstStyle/>
          <a:p>
            <a:r>
              <a:rPr lang="en-US" b="1" dirty="0"/>
              <a:t>Methodology / Algorithms</a:t>
            </a:r>
            <a:br>
              <a:rPr lang="en-US" b="1" dirty="0"/>
            </a:br>
            <a:endParaRPr lang="en-IN" dirty="0"/>
          </a:p>
        </p:txBody>
      </p:sp>
      <p:sp>
        <p:nvSpPr>
          <p:cNvPr id="3" name="Content Placeholder 2">
            <a:extLst>
              <a:ext uri="{FF2B5EF4-FFF2-40B4-BE49-F238E27FC236}">
                <a16:creationId xmlns:a16="http://schemas.microsoft.com/office/drawing/2014/main" id="{69713E3B-DDF1-127A-7FB6-19D6920CF1D9}"/>
              </a:ext>
            </a:extLst>
          </p:cNvPr>
          <p:cNvSpPr>
            <a:spLocks noGrp="1"/>
          </p:cNvSpPr>
          <p:nvPr>
            <p:ph idx="1"/>
          </p:nvPr>
        </p:nvSpPr>
        <p:spPr>
          <a:xfrm>
            <a:off x="838200" y="1211855"/>
            <a:ext cx="10515600" cy="4965108"/>
          </a:xfrm>
        </p:spPr>
        <p:txBody>
          <a:bodyPr/>
          <a:lstStyle/>
          <a:p>
            <a:pPr marL="0" indent="0" eaLnBrk="0" fontAlgn="base" hangingPunct="0">
              <a:lnSpc>
                <a:spcPct val="100000"/>
              </a:lnSpc>
              <a:spcBef>
                <a:spcPct val="0"/>
              </a:spcBef>
              <a:spcAft>
                <a:spcPct val="0"/>
              </a:spcAft>
              <a:buNone/>
            </a:pPr>
            <a:r>
              <a:rPr lang="en-US" dirty="0">
                <a:ea typeface="+mn-lt"/>
                <a:cs typeface="+mn-lt"/>
              </a:rPr>
              <a:t>Step-by-step workflow:</a:t>
            </a:r>
          </a:p>
          <a:p>
            <a:pPr marL="0" indent="0" eaLnBrk="0" fontAlgn="base" hangingPunct="0">
              <a:lnSpc>
                <a:spcPct val="100000"/>
              </a:lnSpc>
              <a:spcBef>
                <a:spcPct val="0"/>
              </a:spcBef>
              <a:spcAft>
                <a:spcPct val="0"/>
              </a:spcAft>
              <a:buNone/>
            </a:pPr>
            <a:endParaRPr lang="en-US" dirty="0">
              <a:ea typeface="+mn-lt"/>
              <a:cs typeface="+mn-lt"/>
            </a:endParaRPr>
          </a:p>
          <a:p>
            <a:pPr marL="0" indent="0" eaLnBrk="0" fontAlgn="base" hangingPunct="0">
              <a:lnSpc>
                <a:spcPct val="100000"/>
              </a:lnSpc>
              <a:spcBef>
                <a:spcPct val="0"/>
              </a:spcBef>
              <a:spcAft>
                <a:spcPct val="0"/>
              </a:spcAft>
              <a:buFontTx/>
              <a:buChar char="•"/>
            </a:pPr>
            <a:endParaRPr lang="en-US" dirty="0">
              <a:ea typeface="+mn-lt"/>
              <a:cs typeface="+mn-lt"/>
            </a:endParaRPr>
          </a:p>
          <a:p>
            <a:pPr marL="0" indent="0" eaLnBrk="0" fontAlgn="base" hangingPunct="0">
              <a:lnSpc>
                <a:spcPct val="100000"/>
              </a:lnSpc>
              <a:spcBef>
                <a:spcPct val="0"/>
              </a:spcBef>
              <a:spcAft>
                <a:spcPct val="0"/>
              </a:spcAft>
              <a:buFontTx/>
              <a:buChar char="•"/>
            </a:pPr>
            <a:endParaRPr lang="en-US" dirty="0">
              <a:ea typeface="+mn-lt"/>
              <a:cs typeface="+mn-lt"/>
            </a:endParaRPr>
          </a:p>
          <a:p>
            <a:pPr marL="0" indent="0" eaLnBrk="0" fontAlgn="base" hangingPunct="0">
              <a:lnSpc>
                <a:spcPct val="100000"/>
              </a:lnSpc>
              <a:spcBef>
                <a:spcPct val="0"/>
              </a:spcBef>
              <a:spcAft>
                <a:spcPct val="0"/>
              </a:spcAft>
              <a:buFontTx/>
              <a:buChar char="•"/>
            </a:pPr>
            <a:endParaRPr lang="en-US" dirty="0">
              <a:ea typeface="+mn-lt"/>
              <a:cs typeface="+mn-lt"/>
            </a:endParaRPr>
          </a:p>
          <a:p>
            <a:pPr marL="0" indent="0" eaLnBrk="0" fontAlgn="base" hangingPunct="0">
              <a:lnSpc>
                <a:spcPct val="100000"/>
              </a:lnSpc>
              <a:spcBef>
                <a:spcPct val="0"/>
              </a:spcBef>
              <a:spcAft>
                <a:spcPct val="0"/>
              </a:spcAft>
              <a:buFontTx/>
              <a:buChar char="•"/>
            </a:pPr>
            <a:endParaRPr lang="en-US" dirty="0">
              <a:ea typeface="+mn-lt"/>
              <a:cs typeface="+mn-lt"/>
            </a:endParaRPr>
          </a:p>
          <a:p>
            <a:pPr marL="0" indent="0" eaLnBrk="0" fontAlgn="base" hangingPunct="0">
              <a:lnSpc>
                <a:spcPct val="100000"/>
              </a:lnSpc>
              <a:spcBef>
                <a:spcPct val="0"/>
              </a:spcBef>
              <a:spcAft>
                <a:spcPct val="0"/>
              </a:spcAft>
              <a:buFontTx/>
              <a:buChar char="•"/>
            </a:pPr>
            <a:endParaRPr lang="en-US" dirty="0">
              <a:ea typeface="+mn-lt"/>
              <a:cs typeface="+mn-lt"/>
            </a:endParaRPr>
          </a:p>
          <a:p>
            <a:pPr marL="0" indent="0" eaLnBrk="0" fontAlgn="base" hangingPunct="0">
              <a:lnSpc>
                <a:spcPct val="100000"/>
              </a:lnSpc>
              <a:spcBef>
                <a:spcPct val="0"/>
              </a:spcBef>
              <a:spcAft>
                <a:spcPct val="0"/>
              </a:spcAft>
              <a:buFontTx/>
              <a:buChar char="•"/>
            </a:pPr>
            <a:endParaRPr lang="en-US" dirty="0">
              <a:ea typeface="+mn-lt"/>
              <a:cs typeface="+mn-lt"/>
            </a:endParaRPr>
          </a:p>
          <a:p>
            <a:pPr marL="0" indent="0" eaLnBrk="0" fontAlgn="base" hangingPunct="0">
              <a:lnSpc>
                <a:spcPct val="100000"/>
              </a:lnSpc>
              <a:spcBef>
                <a:spcPct val="0"/>
              </a:spcBef>
              <a:spcAft>
                <a:spcPct val="0"/>
              </a:spcAft>
              <a:buNone/>
            </a:pPr>
            <a:endParaRPr lang="en-US" dirty="0">
              <a:ea typeface="+mn-lt"/>
              <a:cs typeface="+mn-lt"/>
            </a:endParaRPr>
          </a:p>
          <a:p>
            <a:pPr marL="0" indent="0" eaLnBrk="0" fontAlgn="base" hangingPunct="0">
              <a:lnSpc>
                <a:spcPct val="100000"/>
              </a:lnSpc>
              <a:spcBef>
                <a:spcPct val="0"/>
              </a:spcBef>
              <a:spcAft>
                <a:spcPct val="0"/>
              </a:spcAft>
              <a:buNone/>
            </a:pPr>
            <a:endParaRPr lang="en-US" dirty="0">
              <a:ea typeface="+mn-lt"/>
              <a:cs typeface="+mn-lt"/>
            </a:endParaRPr>
          </a:p>
          <a:p>
            <a:pPr marL="0" indent="0" eaLnBrk="0" fontAlgn="base" hangingPunct="0">
              <a:lnSpc>
                <a:spcPct val="100000"/>
              </a:lnSpc>
              <a:spcBef>
                <a:spcPct val="0"/>
              </a:spcBef>
              <a:spcAft>
                <a:spcPct val="0"/>
              </a:spcAft>
              <a:buNone/>
            </a:pPr>
            <a:endParaRPr lang="en-US" dirty="0">
              <a:ea typeface="+mn-lt"/>
              <a:cs typeface="+mn-lt"/>
            </a:endParaRPr>
          </a:p>
          <a:p>
            <a:endParaRPr lang="en-IN" dirty="0"/>
          </a:p>
        </p:txBody>
      </p:sp>
      <p:sp>
        <p:nvSpPr>
          <p:cNvPr id="5" name="Rectangle 2">
            <a:extLst>
              <a:ext uri="{FF2B5EF4-FFF2-40B4-BE49-F238E27FC236}">
                <a16:creationId xmlns:a16="http://schemas.microsoft.com/office/drawing/2014/main" id="{3FC11991-3166-86B9-FEE8-ABF69E3E46B7}"/>
              </a:ext>
            </a:extLst>
          </p:cNvPr>
          <p:cNvSpPr>
            <a:spLocks noChangeArrowheads="1"/>
          </p:cNvSpPr>
          <p:nvPr/>
        </p:nvSpPr>
        <p:spPr bwMode="auto">
          <a:xfrm>
            <a:off x="838198" y="2001381"/>
            <a:ext cx="10515601"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Arial" panose="020B0604020202020204" pitchFamily="34" charset="0"/>
              </a:rPr>
              <a:t>Collect the Dataset</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chemeClr val="tx1"/>
                </a:solidFill>
                <a:effectLst/>
                <a:latin typeface="Arial" panose="020B0604020202020204" pitchFamily="34" charset="0"/>
              </a:rPr>
              <a:t>Gather a labelled email dataset containing both Spam and Ham emails.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Arial" panose="020B0604020202020204" pitchFamily="34" charset="0"/>
              </a:rPr>
              <a:t>Data Preprocessing</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chemeClr val="tx1"/>
                </a:solidFill>
                <a:effectLst/>
                <a:latin typeface="Arial" panose="020B0604020202020204" pitchFamily="34" charset="0"/>
              </a:rPr>
              <a:t>Clean the email text by converting it to lowercase, removing punctuation, special characters, and stop words.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Arial" panose="020B0604020202020204" pitchFamily="34" charset="0"/>
              </a:rPr>
              <a:t>Feature Extraction</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chemeClr val="tx1"/>
                </a:solidFill>
                <a:effectLst/>
                <a:latin typeface="Arial" panose="020B0604020202020204" pitchFamily="34" charset="0"/>
              </a:rPr>
              <a:t>Convert the cleaned text into numerical features using the </a:t>
            </a:r>
            <a:r>
              <a:rPr kumimoji="0" lang="en-US" altLang="en-US" b="1" i="0" u="none" strike="noStrike" cap="none" normalizeH="0" baseline="0" dirty="0">
                <a:ln>
                  <a:noFill/>
                </a:ln>
                <a:solidFill>
                  <a:schemeClr val="tx1"/>
                </a:solidFill>
                <a:effectLst/>
                <a:latin typeface="Arial" panose="020B0604020202020204" pitchFamily="34" charset="0"/>
              </a:rPr>
              <a:t>TF-IDF</a:t>
            </a:r>
            <a:r>
              <a:rPr kumimoji="0" lang="en-US" altLang="en-US" b="0" i="0" u="none" strike="noStrike" cap="none" normalizeH="0" baseline="0" dirty="0">
                <a:ln>
                  <a:noFill/>
                </a:ln>
                <a:solidFill>
                  <a:schemeClr val="tx1"/>
                </a:solidFill>
                <a:effectLst/>
                <a:latin typeface="Arial" panose="020B0604020202020204" pitchFamily="34" charset="0"/>
              </a:rPr>
              <a:t> technique.</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Arial" panose="020B0604020202020204" pitchFamily="34" charset="0"/>
              </a:rPr>
              <a:t>Split the Dataset</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chemeClr val="tx1"/>
                </a:solidFill>
                <a:effectLst/>
                <a:latin typeface="Arial" panose="020B0604020202020204" pitchFamily="34" charset="0"/>
              </a:rPr>
              <a:t>Divide the dataset into </a:t>
            </a:r>
            <a:r>
              <a:rPr kumimoji="0" lang="en-US" altLang="en-US" b="1" i="0" u="none" strike="noStrike" cap="none" normalizeH="0" baseline="0" dirty="0">
                <a:ln>
                  <a:noFill/>
                </a:ln>
                <a:solidFill>
                  <a:schemeClr val="tx1"/>
                </a:solidFill>
                <a:effectLst/>
                <a:latin typeface="Arial" panose="020B0604020202020204" pitchFamily="34" charset="0"/>
              </a:rPr>
              <a:t>80% training data</a:t>
            </a:r>
            <a:r>
              <a:rPr kumimoji="0" lang="en-US" altLang="en-US" b="0" i="0" u="none" strike="noStrike" cap="none" normalizeH="0" baseline="0" dirty="0">
                <a:ln>
                  <a:noFill/>
                </a:ln>
                <a:solidFill>
                  <a:schemeClr val="tx1"/>
                </a:solidFill>
                <a:effectLst/>
                <a:latin typeface="Arial" panose="020B0604020202020204" pitchFamily="34" charset="0"/>
              </a:rPr>
              <a:t> and </a:t>
            </a:r>
            <a:r>
              <a:rPr kumimoji="0" lang="en-US" altLang="en-US" b="1" i="0" u="none" strike="noStrike" cap="none" normalizeH="0" baseline="0" dirty="0">
                <a:ln>
                  <a:noFill/>
                </a:ln>
                <a:solidFill>
                  <a:schemeClr val="tx1"/>
                </a:solidFill>
                <a:effectLst/>
                <a:latin typeface="Arial" panose="020B0604020202020204" pitchFamily="34" charset="0"/>
              </a:rPr>
              <a:t>20% testing data</a:t>
            </a: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14783097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8517A70-5F45-7E97-DEBC-0AC66AF1C8CD}"/>
              </a:ext>
            </a:extLst>
          </p:cNvPr>
          <p:cNvSpPr>
            <a:spLocks noChangeArrowheads="1"/>
          </p:cNvSpPr>
          <p:nvPr/>
        </p:nvSpPr>
        <p:spPr bwMode="auto">
          <a:xfrm>
            <a:off x="771180" y="1241723"/>
            <a:ext cx="10124501"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Arial" panose="020B0604020202020204" pitchFamily="34" charset="0"/>
              </a:rPr>
              <a:t>5.Train the Model</a:t>
            </a:r>
            <a:r>
              <a:rPr lang="en-US" altLang="en-US" sz="2000" dirty="0">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rPr>
              <a:t>Train the </a:t>
            </a:r>
            <a:r>
              <a:rPr kumimoji="0" lang="en-US" altLang="en-US" sz="2000" b="1" i="0" u="none" strike="noStrike" cap="none" normalizeH="0" baseline="0" dirty="0">
                <a:ln>
                  <a:noFill/>
                </a:ln>
                <a:solidFill>
                  <a:schemeClr val="tx1"/>
                </a:solidFill>
                <a:effectLst/>
                <a:latin typeface="Arial" panose="020B0604020202020204" pitchFamily="34" charset="0"/>
              </a:rPr>
              <a:t>Multinomial Naive Bayes</a:t>
            </a:r>
            <a:r>
              <a:rPr kumimoji="0" lang="en-US" altLang="en-US" sz="2000" b="0" i="0" u="none" strike="noStrike" cap="none" normalizeH="0" baseline="0" dirty="0">
                <a:ln>
                  <a:noFill/>
                </a:ln>
                <a:solidFill>
                  <a:schemeClr val="tx1"/>
                </a:solidFill>
                <a:effectLst/>
                <a:latin typeface="Arial" panose="020B0604020202020204" pitchFamily="34" charset="0"/>
              </a:rPr>
              <a:t> classifier using the training dataset.</a:t>
            </a:r>
          </a:p>
          <a:p>
            <a:pPr marR="0" lvl="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r>
              <a:rPr lang="en-US" altLang="en-US" sz="2000" b="1" dirty="0">
                <a:latin typeface="Arial" panose="020B0604020202020204" pitchFamily="34" charset="0"/>
              </a:rPr>
              <a:t>6</a:t>
            </a:r>
            <a:r>
              <a:rPr lang="en-US" altLang="en-US" sz="2000" dirty="0">
                <a:latin typeface="Arial" panose="020B0604020202020204" pitchFamily="34" charset="0"/>
              </a:rPr>
              <a:t>.</a:t>
            </a:r>
            <a:r>
              <a:rPr kumimoji="0" lang="en-US" altLang="en-US" sz="2000" b="1" i="0" u="none" strike="noStrike" cap="none" normalizeH="0" baseline="0" dirty="0">
                <a:ln>
                  <a:noFill/>
                </a:ln>
                <a:solidFill>
                  <a:schemeClr val="tx1"/>
                </a:solidFill>
                <a:effectLst/>
                <a:latin typeface="Arial" panose="020B0604020202020204" pitchFamily="34" charset="0"/>
              </a:rPr>
              <a:t>Test the Model</a:t>
            </a:r>
            <a:r>
              <a:rPr lang="en-US" altLang="en-US" sz="2000" dirty="0">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rPr>
              <a:t>Evaluate the trained model using the testing dataset.</a:t>
            </a:r>
          </a:p>
          <a:p>
            <a:pPr marR="0" lvl="0" algn="l" defTabSz="914400" rtl="0" eaLnBrk="0" fontAlgn="base" latinLnBrk="0" hangingPunct="0">
              <a:lnSpc>
                <a:spcPct val="100000"/>
              </a:lnSpc>
              <a:spcBef>
                <a:spcPct val="0"/>
              </a:spcBef>
              <a:spcAft>
                <a:spcPct val="0"/>
              </a:spcAft>
              <a:buClrTx/>
              <a:buSzTx/>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r>
              <a:rPr lang="en-US" altLang="en-US" sz="2000" b="1" dirty="0">
                <a:latin typeface="Arial" panose="020B0604020202020204" pitchFamily="34" charset="0"/>
              </a:rPr>
              <a:t>7</a:t>
            </a:r>
            <a:r>
              <a:rPr lang="en-US" altLang="en-US" sz="2000" dirty="0">
                <a:latin typeface="Arial" panose="020B0604020202020204" pitchFamily="34" charset="0"/>
              </a:rPr>
              <a:t>.</a:t>
            </a:r>
            <a:r>
              <a:rPr kumimoji="0" lang="en-US" altLang="en-US" sz="2000" b="1" i="0" u="none" strike="noStrike" cap="none" normalizeH="0" baseline="0" dirty="0">
                <a:ln>
                  <a:noFill/>
                </a:ln>
                <a:solidFill>
                  <a:schemeClr val="tx1"/>
                </a:solidFill>
                <a:effectLst/>
                <a:latin typeface="Arial" panose="020B0604020202020204" pitchFamily="34" charset="0"/>
              </a:rPr>
              <a:t>Predict New Emails</a:t>
            </a:r>
            <a:r>
              <a:rPr lang="en-US" altLang="en-US" sz="2000" dirty="0">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rPr>
              <a:t>Classify a new email as </a:t>
            </a:r>
            <a:r>
              <a:rPr kumimoji="0" lang="en-US" altLang="en-US" sz="2000" b="1" i="0" u="none" strike="noStrike" cap="none" normalizeH="0" baseline="0" dirty="0">
                <a:ln>
                  <a:noFill/>
                </a:ln>
                <a:solidFill>
                  <a:schemeClr val="tx1"/>
                </a:solidFill>
                <a:effectLst/>
                <a:latin typeface="Arial" panose="020B0604020202020204" pitchFamily="34" charset="0"/>
              </a:rPr>
              <a:t>Spam</a:t>
            </a:r>
            <a:r>
              <a:rPr kumimoji="0" lang="en-US" altLang="en-US" sz="2000" b="0" i="0" u="none" strike="noStrike" cap="none" normalizeH="0" baseline="0" dirty="0">
                <a:ln>
                  <a:noFill/>
                </a:ln>
                <a:solidFill>
                  <a:schemeClr val="tx1"/>
                </a:solidFill>
                <a:effectLst/>
                <a:latin typeface="Arial" panose="020B0604020202020204" pitchFamily="34" charset="0"/>
              </a:rPr>
              <a:t> or </a:t>
            </a:r>
            <a:r>
              <a:rPr kumimoji="0" lang="en-US" altLang="en-US" sz="2000" b="1" i="0" u="none" strike="noStrike" cap="none" normalizeH="0" baseline="0" dirty="0">
                <a:ln>
                  <a:noFill/>
                </a:ln>
                <a:solidFill>
                  <a:schemeClr val="tx1"/>
                </a:solidFill>
                <a:effectLst/>
                <a:latin typeface="Arial" panose="020B0604020202020204" pitchFamily="34" charset="0"/>
              </a:rPr>
              <a:t>Ham</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R="0" lvl="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Arial" panose="020B0604020202020204" pitchFamily="34" charset="0"/>
              </a:rPr>
              <a:t>8.Evaluate Performance</a:t>
            </a:r>
            <a:r>
              <a:rPr lang="en-US" altLang="en-US" sz="2000" dirty="0">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rPr>
              <a:t>Measure the model's performance using </a:t>
            </a:r>
            <a:r>
              <a:rPr kumimoji="0" lang="en-US" altLang="en-US" sz="2000" b="1" i="0" u="none" strike="noStrike" cap="none" normalizeH="0" baseline="0" dirty="0">
                <a:ln>
                  <a:noFill/>
                </a:ln>
                <a:solidFill>
                  <a:schemeClr val="tx1"/>
                </a:solidFill>
                <a:effectLst/>
                <a:latin typeface="Arial" panose="020B0604020202020204" pitchFamily="34" charset="0"/>
              </a:rPr>
              <a:t>Accuracy, Precision, Recall, and F1-Score</a:t>
            </a:r>
            <a:r>
              <a:rPr kumimoji="0" lang="en-US" altLang="en-US" sz="20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33241001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10A95-05EF-E3B9-D47B-4D7A2F902BC2}"/>
              </a:ext>
            </a:extLst>
          </p:cNvPr>
          <p:cNvSpPr>
            <a:spLocks noGrp="1"/>
          </p:cNvSpPr>
          <p:nvPr>
            <p:ph type="title"/>
          </p:nvPr>
        </p:nvSpPr>
        <p:spPr/>
        <p:txBody>
          <a:bodyPr/>
          <a:lstStyle/>
          <a:p>
            <a:r>
              <a:rPr lang="en-US" b="1" dirty="0"/>
              <a:t>Implementation Details</a:t>
            </a:r>
            <a:br>
              <a:rPr lang="en-US" b="1" dirty="0"/>
            </a:br>
            <a:endParaRPr lang="en-IN" dirty="0"/>
          </a:p>
        </p:txBody>
      </p:sp>
      <p:sp>
        <p:nvSpPr>
          <p:cNvPr id="3" name="Content Placeholder 2">
            <a:extLst>
              <a:ext uri="{FF2B5EF4-FFF2-40B4-BE49-F238E27FC236}">
                <a16:creationId xmlns:a16="http://schemas.microsoft.com/office/drawing/2014/main" id="{90A0EF61-554E-BF98-7CCC-8EA3CC0E4350}"/>
              </a:ext>
            </a:extLst>
          </p:cNvPr>
          <p:cNvSpPr>
            <a:spLocks noGrp="1"/>
          </p:cNvSpPr>
          <p:nvPr>
            <p:ph idx="1"/>
          </p:nvPr>
        </p:nvSpPr>
        <p:spPr/>
        <p:txBody>
          <a:bodyPr/>
          <a:lstStyle/>
          <a:p>
            <a:pPr marL="0" indent="0" eaLnBrk="0" fontAlgn="base" hangingPunct="0">
              <a:lnSpc>
                <a:spcPct val="100000"/>
              </a:lnSpc>
              <a:spcBef>
                <a:spcPct val="0"/>
              </a:spcBef>
              <a:spcAft>
                <a:spcPct val="0"/>
              </a:spcAft>
              <a:buNone/>
            </a:pPr>
            <a:r>
              <a:rPr lang="en-US" dirty="0">
                <a:ea typeface="+mn-lt"/>
                <a:cs typeface="+mn-lt"/>
              </a:rPr>
              <a:t> </a:t>
            </a:r>
            <a:r>
              <a:rPr lang="en-US" b="1" dirty="0">
                <a:ea typeface="+mn-lt"/>
                <a:cs typeface="+mn-lt"/>
              </a:rPr>
              <a:t>Dataset description:</a:t>
            </a:r>
          </a:p>
          <a:p>
            <a:pPr marL="0" indent="0" eaLnBrk="0" fontAlgn="base" hangingPunct="0">
              <a:lnSpc>
                <a:spcPct val="100000"/>
              </a:lnSpc>
              <a:spcBef>
                <a:spcPct val="0"/>
              </a:spcBef>
              <a:spcAft>
                <a:spcPct val="0"/>
              </a:spcAft>
              <a:buFontTx/>
              <a:buChar char="•"/>
            </a:pPr>
            <a:endParaRPr lang="en-US" dirty="0">
              <a:ea typeface="+mn-lt"/>
              <a:cs typeface="+mn-lt"/>
            </a:endParaRPr>
          </a:p>
          <a:p>
            <a:pPr marL="0" indent="0">
              <a:buNone/>
            </a:pPr>
            <a:r>
              <a:rPr lang="en-IN" dirty="0"/>
              <a:t>            </a:t>
            </a:r>
          </a:p>
        </p:txBody>
      </p:sp>
      <p:sp>
        <p:nvSpPr>
          <p:cNvPr id="4" name="Rectangle 1">
            <a:extLst>
              <a:ext uri="{FF2B5EF4-FFF2-40B4-BE49-F238E27FC236}">
                <a16:creationId xmlns:a16="http://schemas.microsoft.com/office/drawing/2014/main" id="{34A094B3-E30E-7B03-B8D8-F85FFB38099D}"/>
              </a:ext>
            </a:extLst>
          </p:cNvPr>
          <p:cNvSpPr>
            <a:spLocks noChangeArrowheads="1"/>
          </p:cNvSpPr>
          <p:nvPr/>
        </p:nvSpPr>
        <p:spPr bwMode="auto">
          <a:xfrm>
            <a:off x="1046602" y="2749478"/>
            <a:ext cx="858214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project uses a labelled email dataset in </a:t>
            </a:r>
            <a:r>
              <a:rPr kumimoji="0" lang="en-US" altLang="en-US" sz="1800" b="1" i="0" u="none" strike="noStrike" cap="none" normalizeH="0" baseline="0" dirty="0">
                <a:ln>
                  <a:noFill/>
                </a:ln>
                <a:solidFill>
                  <a:schemeClr val="tx1"/>
                </a:solidFill>
                <a:effectLst/>
                <a:latin typeface="Arial" panose="020B0604020202020204" pitchFamily="34" charset="0"/>
              </a:rPr>
              <a:t>CSV</a:t>
            </a:r>
            <a:r>
              <a:rPr kumimoji="0" lang="en-US" altLang="en-US" sz="1800" b="0" i="0" u="none" strike="noStrike" cap="none" normalizeH="0" baseline="0" dirty="0">
                <a:ln>
                  <a:noFill/>
                </a:ln>
                <a:solidFill>
                  <a:schemeClr val="tx1"/>
                </a:solidFill>
                <a:effectLst/>
                <a:latin typeface="Arial" panose="020B0604020202020204" pitchFamily="34" charset="0"/>
              </a:rPr>
              <a:t> format.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dataset contains two categories: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Arial" panose="020B0604020202020204" pitchFamily="34" charset="0"/>
              </a:rPr>
              <a:t>Spam</a:t>
            </a:r>
            <a:r>
              <a:rPr kumimoji="0" lang="en-US" altLang="en-US" sz="1800" b="0" i="0" u="none" strike="noStrike" cap="none" normalizeH="0" baseline="0" dirty="0">
                <a:ln>
                  <a:noFill/>
                </a:ln>
                <a:solidFill>
                  <a:schemeClr val="tx1"/>
                </a:solidFill>
                <a:effectLst/>
                <a:latin typeface="Arial" panose="020B0604020202020204" pitchFamily="34" charset="0"/>
              </a:rPr>
              <a:t> – Unwanted or fraudulent emails.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b="1" i="0" u="none" strike="noStrike" cap="none" normalizeH="0" baseline="0" dirty="0">
                <a:ln>
                  <a:noFill/>
                </a:ln>
                <a:solidFill>
                  <a:schemeClr val="tx1"/>
                </a:solidFill>
                <a:effectLst/>
                <a:latin typeface="Arial" panose="020B0604020202020204" pitchFamily="34" charset="0"/>
              </a:rPr>
              <a:t>Ham</a:t>
            </a:r>
            <a:r>
              <a:rPr kumimoji="0" lang="en-US" altLang="en-US" b="0" i="0" u="none" strike="noStrike" cap="none" normalizeH="0" baseline="0" dirty="0">
                <a:ln>
                  <a:noFill/>
                </a:ln>
                <a:solidFill>
                  <a:schemeClr val="tx1"/>
                </a:solidFill>
                <a:effectLst/>
                <a:latin typeface="Arial" panose="020B0604020202020204" pitchFamily="34" charset="0"/>
              </a:rPr>
              <a:t> – Genuine or legitimate emails.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dataset is loaded using the </a:t>
            </a:r>
            <a:r>
              <a:rPr kumimoji="0" lang="en-US" altLang="en-US" sz="1800" b="1" i="0" u="none" strike="noStrike" cap="none" normalizeH="0" baseline="0" dirty="0">
                <a:ln>
                  <a:noFill/>
                </a:ln>
                <a:solidFill>
                  <a:schemeClr val="tx1"/>
                </a:solidFill>
                <a:effectLst/>
                <a:latin typeface="Arial" panose="020B0604020202020204" pitchFamily="34" charset="0"/>
              </a:rPr>
              <a:t>Pandas</a:t>
            </a:r>
            <a:r>
              <a:rPr kumimoji="0" lang="en-US" altLang="en-US" sz="1800" b="0" i="0" u="none" strike="noStrike" cap="none" normalizeH="0" baseline="0" dirty="0">
                <a:ln>
                  <a:noFill/>
                </a:ln>
                <a:solidFill>
                  <a:schemeClr val="tx1"/>
                </a:solidFill>
                <a:effectLst/>
                <a:latin typeface="Arial" panose="020B0604020202020204" pitchFamily="34" charset="0"/>
              </a:rPr>
              <a:t> library.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data is divided into </a:t>
            </a:r>
            <a:r>
              <a:rPr kumimoji="0" lang="en-US" altLang="en-US" sz="1800" b="1" i="0" u="none" strike="noStrike" cap="none" normalizeH="0" baseline="0" dirty="0">
                <a:ln>
                  <a:noFill/>
                </a:ln>
                <a:solidFill>
                  <a:schemeClr val="tx1"/>
                </a:solidFill>
                <a:effectLst/>
                <a:latin typeface="Arial" panose="020B0604020202020204" pitchFamily="34" charset="0"/>
              </a:rPr>
              <a:t>80% training</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20% testing</a:t>
            </a:r>
            <a:r>
              <a:rPr kumimoji="0" lang="en-US" altLang="en-US" sz="1800" b="0" i="0" u="none" strike="noStrike" cap="none" normalizeH="0" baseline="0" dirty="0">
                <a:ln>
                  <a:noFill/>
                </a:ln>
                <a:solidFill>
                  <a:schemeClr val="tx1"/>
                </a:solidFill>
                <a:effectLst/>
                <a:latin typeface="Arial" panose="020B0604020202020204" pitchFamily="34" charset="0"/>
              </a:rPr>
              <a:t> for model development </a:t>
            </a:r>
          </a:p>
        </p:txBody>
      </p:sp>
    </p:spTree>
    <p:extLst>
      <p:ext uri="{BB962C8B-B14F-4D97-AF65-F5344CB8AC3E}">
        <p14:creationId xmlns:p14="http://schemas.microsoft.com/office/powerpoint/2010/main" val="24962322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C488793-FC76-0B50-1561-AE22CA9B6817}"/>
              </a:ext>
            </a:extLst>
          </p:cNvPr>
          <p:cNvSpPr txBox="1"/>
          <p:nvPr/>
        </p:nvSpPr>
        <p:spPr>
          <a:xfrm>
            <a:off x="837282" y="661013"/>
            <a:ext cx="10212636" cy="4339650"/>
          </a:xfrm>
          <a:prstGeom prst="rect">
            <a:avLst/>
          </a:prstGeom>
          <a:noFill/>
        </p:spPr>
        <p:txBody>
          <a:bodyPr wrap="square">
            <a:spAutoFit/>
          </a:bodyPr>
          <a:lstStyle/>
          <a:p>
            <a:pPr>
              <a:buNone/>
            </a:pPr>
            <a:r>
              <a:rPr lang="en-US" sz="2400" b="1" dirty="0"/>
              <a:t>Key Modules</a:t>
            </a:r>
          </a:p>
          <a:p>
            <a:pPr>
              <a:buNone/>
            </a:pPr>
            <a:r>
              <a:rPr lang="en-US" b="1" dirty="0"/>
              <a:t>1. Dataset Module</a:t>
            </a:r>
          </a:p>
          <a:p>
            <a:pPr>
              <a:buFont typeface="Arial" panose="020B0604020202020204" pitchFamily="34" charset="0"/>
              <a:buChar char="•"/>
            </a:pPr>
            <a:r>
              <a:rPr lang="en-US" dirty="0"/>
              <a:t>Loads the email dataset from the CSV file.</a:t>
            </a:r>
          </a:p>
          <a:p>
            <a:pPr>
              <a:buFont typeface="Arial" panose="020B0604020202020204" pitchFamily="34" charset="0"/>
              <a:buChar char="•"/>
            </a:pPr>
            <a:r>
              <a:rPr lang="en-US" dirty="0"/>
              <a:t>Reads spam and ham email messages for processing.</a:t>
            </a:r>
          </a:p>
          <a:p>
            <a:pPr>
              <a:buNone/>
            </a:pPr>
            <a:r>
              <a:rPr lang="en-US" b="1" dirty="0"/>
              <a:t>2. Data Preprocessing Module</a:t>
            </a:r>
          </a:p>
          <a:p>
            <a:pPr>
              <a:buFont typeface="Arial" panose="020B0604020202020204" pitchFamily="34" charset="0"/>
              <a:buChar char="•"/>
            </a:pPr>
            <a:r>
              <a:rPr lang="en-US" dirty="0"/>
              <a:t>Converts text to lowercase.</a:t>
            </a:r>
          </a:p>
          <a:p>
            <a:pPr>
              <a:buFont typeface="Arial" panose="020B0604020202020204" pitchFamily="34" charset="0"/>
              <a:buChar char="•"/>
            </a:pPr>
            <a:r>
              <a:rPr lang="en-US" dirty="0"/>
              <a:t>Removes punctuation and special characters.</a:t>
            </a:r>
          </a:p>
          <a:p>
            <a:pPr>
              <a:buFont typeface="Arial" panose="020B0604020202020204" pitchFamily="34" charset="0"/>
              <a:buChar char="•"/>
            </a:pPr>
            <a:r>
              <a:rPr lang="en-US" dirty="0"/>
              <a:t>Removes stop words from the email text.</a:t>
            </a:r>
          </a:p>
          <a:p>
            <a:pPr>
              <a:buNone/>
            </a:pPr>
            <a:r>
              <a:rPr lang="en-US" b="1" dirty="0"/>
              <a:t>3. Feature Extraction Module</a:t>
            </a:r>
          </a:p>
          <a:p>
            <a:pPr>
              <a:buFont typeface="Arial" panose="020B0604020202020204" pitchFamily="34" charset="0"/>
              <a:buChar char="•"/>
            </a:pPr>
            <a:r>
              <a:rPr lang="en-US" dirty="0"/>
              <a:t>Uses </a:t>
            </a:r>
            <a:r>
              <a:rPr lang="en-US" b="1" dirty="0"/>
              <a:t>TF-IDF</a:t>
            </a:r>
            <a:r>
              <a:rPr lang="en-US" dirty="0"/>
              <a:t> to convert text into numerical feature vectors.</a:t>
            </a:r>
          </a:p>
          <a:p>
            <a:pPr>
              <a:buNone/>
            </a:pPr>
            <a:r>
              <a:rPr lang="en-US" b="1" dirty="0"/>
              <a:t>4. Model Training Module</a:t>
            </a:r>
          </a:p>
          <a:p>
            <a:pPr>
              <a:buFont typeface="Arial" panose="020B0604020202020204" pitchFamily="34" charset="0"/>
              <a:buChar char="•"/>
            </a:pPr>
            <a:r>
              <a:rPr lang="en-US" dirty="0"/>
              <a:t>Trains the </a:t>
            </a:r>
            <a:r>
              <a:rPr lang="en-US" b="1" dirty="0"/>
              <a:t>Multinomial Naive Bayes</a:t>
            </a:r>
            <a:r>
              <a:rPr lang="en-US" dirty="0"/>
              <a:t> classifier using the training dataset.</a:t>
            </a:r>
          </a:p>
          <a:p>
            <a:pPr>
              <a:buNone/>
            </a:pPr>
            <a:r>
              <a:rPr lang="en-US" b="1" dirty="0"/>
              <a:t>5. Prediction Module</a:t>
            </a:r>
          </a:p>
          <a:p>
            <a:pPr>
              <a:buFont typeface="Arial" panose="020B0604020202020204" pitchFamily="34" charset="0"/>
              <a:buChar char="•"/>
            </a:pPr>
            <a:r>
              <a:rPr lang="en-US" dirty="0"/>
              <a:t>Predicts whether a new email is </a:t>
            </a:r>
            <a:r>
              <a:rPr lang="en-US" b="1" dirty="0"/>
              <a:t>Spam</a:t>
            </a:r>
            <a:r>
              <a:rPr lang="en-US" dirty="0"/>
              <a:t> or </a:t>
            </a:r>
            <a:r>
              <a:rPr lang="en-US" b="1" dirty="0"/>
              <a:t>Ham</a:t>
            </a:r>
            <a:r>
              <a:rPr lang="en-US" dirty="0"/>
              <a:t>.</a:t>
            </a:r>
          </a:p>
          <a:p>
            <a:pPr>
              <a:buFont typeface="Arial" panose="020B0604020202020204" pitchFamily="34" charset="0"/>
              <a:buChar char="•"/>
            </a:pPr>
            <a:r>
              <a:rPr lang="en-US" dirty="0"/>
              <a:t>Displays the final prediction to the user.</a:t>
            </a:r>
          </a:p>
        </p:txBody>
      </p:sp>
    </p:spTree>
    <p:extLst>
      <p:ext uri="{BB962C8B-B14F-4D97-AF65-F5344CB8AC3E}">
        <p14:creationId xmlns:p14="http://schemas.microsoft.com/office/powerpoint/2010/main" val="21965513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DAD7B3E-AC8F-E02A-C761-12E64697E5A7}"/>
              </a:ext>
            </a:extLst>
          </p:cNvPr>
          <p:cNvSpPr txBox="1"/>
          <p:nvPr/>
        </p:nvSpPr>
        <p:spPr>
          <a:xfrm>
            <a:off x="771181" y="561860"/>
            <a:ext cx="10344838" cy="5632311"/>
          </a:xfrm>
          <a:prstGeom prst="rect">
            <a:avLst/>
          </a:prstGeom>
          <a:noFill/>
        </p:spPr>
        <p:txBody>
          <a:bodyPr wrap="square">
            <a:spAutoFit/>
          </a:bodyPr>
          <a:lstStyle/>
          <a:p>
            <a:pPr>
              <a:buNone/>
            </a:pPr>
            <a:r>
              <a:rPr lang="en-US" sz="2000" b="1" dirty="0"/>
              <a:t>Brief Code Snippets</a:t>
            </a:r>
          </a:p>
          <a:p>
            <a:pPr>
              <a:buNone/>
            </a:pPr>
            <a:r>
              <a:rPr lang="en-US" b="1" dirty="0"/>
              <a:t>Import Required Libraries</a:t>
            </a:r>
          </a:p>
          <a:p>
            <a:pPr rtl="0">
              <a:buNone/>
            </a:pPr>
            <a:r>
              <a:rPr lang="en-US" dirty="0">
                <a:latin typeface="Courier New" panose="02070309020205020404" pitchFamily="49" charset="0"/>
              </a:rPr>
              <a:t>import pandas as pd</a:t>
            </a:r>
          </a:p>
          <a:p>
            <a:pPr rtl="0">
              <a:buNone/>
            </a:pPr>
            <a:r>
              <a:rPr lang="en-US" dirty="0">
                <a:latin typeface="Courier New" panose="02070309020205020404" pitchFamily="49" charset="0"/>
              </a:rPr>
              <a:t>from </a:t>
            </a:r>
            <a:r>
              <a:rPr lang="en-US" dirty="0" err="1">
                <a:latin typeface="Courier New" panose="02070309020205020404" pitchFamily="49" charset="0"/>
              </a:rPr>
              <a:t>sklearn</a:t>
            </a:r>
            <a:r>
              <a:rPr lang="en-US" dirty="0">
                <a:latin typeface="Courier New" panose="02070309020205020404" pitchFamily="49" charset="0"/>
              </a:rPr>
              <a:t> .feature extraction .text import </a:t>
            </a:r>
            <a:r>
              <a:rPr lang="en-US" dirty="0" err="1">
                <a:latin typeface="Courier New" panose="02070309020205020404" pitchFamily="49" charset="0"/>
              </a:rPr>
              <a:t>TfidfVectorizer</a:t>
            </a:r>
            <a:endParaRPr lang="en-US" dirty="0">
              <a:latin typeface="Courier New" panose="02070309020205020404" pitchFamily="49" charset="0"/>
            </a:endParaRPr>
          </a:p>
          <a:p>
            <a:pPr rtl="0">
              <a:buNone/>
            </a:pPr>
            <a:r>
              <a:rPr lang="en-US" dirty="0">
                <a:latin typeface="Courier New" panose="02070309020205020404" pitchFamily="49" charset="0"/>
              </a:rPr>
              <a:t>from </a:t>
            </a:r>
            <a:r>
              <a:rPr lang="en-US" dirty="0" err="1">
                <a:latin typeface="Courier New" panose="02070309020205020404" pitchFamily="49" charset="0"/>
              </a:rPr>
              <a:t>sklearn.naive_bayes</a:t>
            </a:r>
            <a:r>
              <a:rPr lang="en-US" dirty="0">
                <a:latin typeface="Courier New" panose="02070309020205020404" pitchFamily="49" charset="0"/>
              </a:rPr>
              <a:t> import </a:t>
            </a:r>
            <a:r>
              <a:rPr lang="en-US" dirty="0" err="1">
                <a:latin typeface="Courier New" panose="02070309020205020404" pitchFamily="49" charset="0"/>
              </a:rPr>
              <a:t>MultinomialNB</a:t>
            </a:r>
            <a:endParaRPr lang="en-US" dirty="0">
              <a:latin typeface="Courier New" panose="02070309020205020404" pitchFamily="49" charset="0"/>
            </a:endParaRPr>
          </a:p>
          <a:p>
            <a:pPr rtl="0">
              <a:buNone/>
            </a:pPr>
            <a:endParaRPr lang="en-US" dirty="0">
              <a:latin typeface="Courier New" panose="02070309020205020404" pitchFamily="49" charset="0"/>
            </a:endParaRPr>
          </a:p>
          <a:p>
            <a:pPr>
              <a:buNone/>
            </a:pPr>
            <a:r>
              <a:rPr lang="en-US" b="1" dirty="0"/>
              <a:t>Load Dataset</a:t>
            </a:r>
          </a:p>
          <a:p>
            <a:pPr rtl="0">
              <a:buNone/>
            </a:pPr>
            <a:r>
              <a:rPr lang="en-US" dirty="0" err="1">
                <a:latin typeface="Courier New" panose="02070309020205020404" pitchFamily="49" charset="0"/>
              </a:rPr>
              <a:t>df</a:t>
            </a:r>
            <a:r>
              <a:rPr lang="en-US" dirty="0">
                <a:latin typeface="Courier New" panose="02070309020205020404" pitchFamily="49" charset="0"/>
              </a:rPr>
              <a:t> = </a:t>
            </a:r>
            <a:r>
              <a:rPr lang="en-US" dirty="0" err="1">
                <a:latin typeface="Courier New" panose="02070309020205020404" pitchFamily="49" charset="0"/>
              </a:rPr>
              <a:t>pd.read_csv</a:t>
            </a:r>
            <a:r>
              <a:rPr lang="en-US" dirty="0">
                <a:latin typeface="Courier New" panose="02070309020205020404" pitchFamily="49" charset="0"/>
              </a:rPr>
              <a:t>("spam_dataset.csv")</a:t>
            </a:r>
          </a:p>
          <a:p>
            <a:pPr rtl="0">
              <a:buNone/>
            </a:pPr>
            <a:endParaRPr lang="en-US" dirty="0">
              <a:latin typeface="Courier New" panose="02070309020205020404" pitchFamily="49" charset="0"/>
            </a:endParaRPr>
          </a:p>
          <a:p>
            <a:pPr>
              <a:buNone/>
            </a:pPr>
            <a:r>
              <a:rPr lang="en-US" b="1" dirty="0"/>
              <a:t>Apply TF-IDF</a:t>
            </a:r>
          </a:p>
          <a:p>
            <a:pPr rtl="0">
              <a:buNone/>
            </a:pPr>
            <a:r>
              <a:rPr lang="en-US" dirty="0">
                <a:latin typeface="Courier New" panose="02070309020205020404" pitchFamily="49" charset="0"/>
              </a:rPr>
              <a:t>vectorizer = </a:t>
            </a:r>
            <a:r>
              <a:rPr lang="en-US" dirty="0" err="1">
                <a:latin typeface="Courier New" panose="02070309020205020404" pitchFamily="49" charset="0"/>
              </a:rPr>
              <a:t>TfidfVectorizer</a:t>
            </a:r>
            <a:r>
              <a:rPr lang="en-US" dirty="0">
                <a:latin typeface="Courier New" panose="02070309020205020404" pitchFamily="49" charset="0"/>
              </a:rPr>
              <a:t>(</a:t>
            </a:r>
            <a:r>
              <a:rPr lang="en-US" dirty="0" err="1">
                <a:latin typeface="Courier New" panose="02070309020205020404" pitchFamily="49" charset="0"/>
              </a:rPr>
              <a:t>stop_words</a:t>
            </a:r>
            <a:r>
              <a:rPr lang="en-US" dirty="0">
                <a:latin typeface="Courier New" panose="02070309020205020404" pitchFamily="49" charset="0"/>
              </a:rPr>
              <a:t>='</a:t>
            </a:r>
            <a:r>
              <a:rPr lang="en-US" dirty="0" err="1">
                <a:latin typeface="Courier New" panose="02070309020205020404" pitchFamily="49" charset="0"/>
              </a:rPr>
              <a:t>english</a:t>
            </a:r>
            <a:r>
              <a:rPr lang="en-US" dirty="0">
                <a:latin typeface="Courier New" panose="02070309020205020404" pitchFamily="49" charset="0"/>
              </a:rPr>
              <a:t>')</a:t>
            </a:r>
          </a:p>
          <a:p>
            <a:pPr rtl="0">
              <a:buNone/>
            </a:pPr>
            <a:r>
              <a:rPr lang="en-US" dirty="0">
                <a:latin typeface="Courier New" panose="02070309020205020404" pitchFamily="49" charset="0"/>
              </a:rPr>
              <a:t>X = </a:t>
            </a:r>
            <a:r>
              <a:rPr lang="en-US" dirty="0" err="1">
                <a:latin typeface="Courier New" panose="02070309020205020404" pitchFamily="49" charset="0"/>
              </a:rPr>
              <a:t>vectorizer.fit_transform</a:t>
            </a:r>
            <a:r>
              <a:rPr lang="en-US" dirty="0">
                <a:latin typeface="Courier New" panose="02070309020205020404" pitchFamily="49" charset="0"/>
              </a:rPr>
              <a:t>(</a:t>
            </a:r>
            <a:r>
              <a:rPr lang="en-US" dirty="0" err="1">
                <a:latin typeface="Courier New" panose="02070309020205020404" pitchFamily="49" charset="0"/>
              </a:rPr>
              <a:t>df</a:t>
            </a:r>
            <a:r>
              <a:rPr lang="en-US" dirty="0">
                <a:latin typeface="Courier New" panose="02070309020205020404" pitchFamily="49" charset="0"/>
              </a:rPr>
              <a:t>['message’])</a:t>
            </a:r>
          </a:p>
          <a:p>
            <a:pPr rtl="0">
              <a:buNone/>
            </a:pPr>
            <a:endParaRPr lang="en-US" dirty="0">
              <a:latin typeface="Courier New" panose="02070309020205020404" pitchFamily="49" charset="0"/>
            </a:endParaRPr>
          </a:p>
          <a:p>
            <a:pPr>
              <a:buNone/>
            </a:pPr>
            <a:r>
              <a:rPr lang="en-US" b="1" dirty="0"/>
              <a:t>Train the Model</a:t>
            </a:r>
          </a:p>
          <a:p>
            <a:pPr rtl="0">
              <a:buNone/>
            </a:pPr>
            <a:r>
              <a:rPr lang="en-US" dirty="0">
                <a:latin typeface="Courier New" panose="02070309020205020404" pitchFamily="49" charset="0"/>
              </a:rPr>
              <a:t>model = </a:t>
            </a:r>
            <a:r>
              <a:rPr lang="en-US" dirty="0" err="1">
                <a:latin typeface="Courier New" panose="02070309020205020404" pitchFamily="49" charset="0"/>
              </a:rPr>
              <a:t>MultinomialNB</a:t>
            </a:r>
            <a:r>
              <a:rPr lang="en-US" dirty="0">
                <a:latin typeface="Courier New" panose="02070309020205020404" pitchFamily="49" charset="0"/>
              </a:rPr>
              <a:t>()</a:t>
            </a:r>
          </a:p>
          <a:p>
            <a:pPr rtl="0">
              <a:buNone/>
            </a:pPr>
            <a:r>
              <a:rPr lang="en-US" dirty="0" err="1">
                <a:latin typeface="Courier New" panose="02070309020205020404" pitchFamily="49" charset="0"/>
              </a:rPr>
              <a:t>model.fit</a:t>
            </a:r>
            <a:r>
              <a:rPr lang="en-US" dirty="0">
                <a:latin typeface="Courier New" panose="02070309020205020404" pitchFamily="49" charset="0"/>
              </a:rPr>
              <a:t>(</a:t>
            </a:r>
            <a:r>
              <a:rPr lang="en-US" dirty="0" err="1">
                <a:latin typeface="Courier New" panose="02070309020205020404" pitchFamily="49" charset="0"/>
              </a:rPr>
              <a:t>X_train</a:t>
            </a:r>
            <a:r>
              <a:rPr lang="en-US" dirty="0">
                <a:latin typeface="Courier New" panose="02070309020205020404" pitchFamily="49" charset="0"/>
              </a:rPr>
              <a:t>, </a:t>
            </a:r>
            <a:r>
              <a:rPr lang="en-US" dirty="0" err="1">
                <a:latin typeface="Courier New" panose="02070309020205020404" pitchFamily="49" charset="0"/>
              </a:rPr>
              <a:t>y_train</a:t>
            </a:r>
            <a:r>
              <a:rPr lang="en-US" dirty="0">
                <a:latin typeface="Courier New" panose="02070309020205020404" pitchFamily="49" charset="0"/>
              </a:rPr>
              <a:t>)</a:t>
            </a:r>
          </a:p>
          <a:p>
            <a:pPr rtl="0">
              <a:buNone/>
            </a:pPr>
            <a:endParaRPr lang="en-US" dirty="0">
              <a:latin typeface="Courier New" panose="02070309020205020404" pitchFamily="49" charset="0"/>
            </a:endParaRPr>
          </a:p>
          <a:p>
            <a:pPr>
              <a:buNone/>
            </a:pPr>
            <a:r>
              <a:rPr lang="en-US" b="1" dirty="0"/>
              <a:t>Predict Email</a:t>
            </a:r>
          </a:p>
          <a:p>
            <a:pPr rtl="0">
              <a:buNone/>
            </a:pPr>
            <a:r>
              <a:rPr lang="en-US" dirty="0">
                <a:latin typeface="Courier New" panose="02070309020205020404" pitchFamily="49" charset="0"/>
              </a:rPr>
              <a:t>prediction = </a:t>
            </a:r>
            <a:r>
              <a:rPr lang="en-US" dirty="0" err="1">
                <a:latin typeface="Courier New" panose="02070309020205020404" pitchFamily="49" charset="0"/>
              </a:rPr>
              <a:t>model.predict</a:t>
            </a:r>
            <a:r>
              <a:rPr lang="en-US" dirty="0">
                <a:latin typeface="Courier New" panose="02070309020205020404" pitchFamily="49" charset="0"/>
              </a:rPr>
              <a:t>(</a:t>
            </a:r>
            <a:r>
              <a:rPr lang="en-US" dirty="0" err="1">
                <a:latin typeface="Courier New" panose="02070309020205020404" pitchFamily="49" charset="0"/>
              </a:rPr>
              <a:t>new_email</a:t>
            </a:r>
            <a:r>
              <a:rPr lang="en-US" dirty="0">
                <a:latin typeface="Courier New" panose="02070309020205020404" pitchFamily="49" charset="0"/>
              </a:rPr>
              <a:t>)</a:t>
            </a:r>
          </a:p>
          <a:p>
            <a:pPr rtl="0">
              <a:buNone/>
            </a:pPr>
            <a:r>
              <a:rPr lang="en-US" dirty="0">
                <a:latin typeface="Courier New" panose="02070309020205020404" pitchFamily="49" charset="0"/>
              </a:rPr>
              <a:t>print(prediction)</a:t>
            </a:r>
          </a:p>
        </p:txBody>
      </p:sp>
    </p:spTree>
    <p:extLst>
      <p:ext uri="{BB962C8B-B14F-4D97-AF65-F5344CB8AC3E}">
        <p14:creationId xmlns:p14="http://schemas.microsoft.com/office/powerpoint/2010/main" val="9447562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A22B5-DAD9-4F3C-2CB3-1BE85FFBE7C8}"/>
              </a:ext>
            </a:extLst>
          </p:cNvPr>
          <p:cNvSpPr>
            <a:spLocks noGrp="1"/>
          </p:cNvSpPr>
          <p:nvPr>
            <p:ph type="title"/>
          </p:nvPr>
        </p:nvSpPr>
        <p:spPr/>
        <p:txBody>
          <a:bodyPr/>
          <a:lstStyle/>
          <a:p>
            <a:r>
              <a:rPr lang="en-US" b="1" dirty="0"/>
              <a:t>Results &amp; Output</a:t>
            </a:r>
            <a:br>
              <a:rPr lang="en-US" b="1" dirty="0"/>
            </a:br>
            <a:endParaRPr lang="en-IN" dirty="0"/>
          </a:p>
        </p:txBody>
      </p:sp>
      <p:sp>
        <p:nvSpPr>
          <p:cNvPr id="3" name="Content Placeholder 2">
            <a:extLst>
              <a:ext uri="{FF2B5EF4-FFF2-40B4-BE49-F238E27FC236}">
                <a16:creationId xmlns:a16="http://schemas.microsoft.com/office/drawing/2014/main" id="{1A59F14F-40C0-7C1E-F555-AA444C8104BD}"/>
              </a:ext>
            </a:extLst>
          </p:cNvPr>
          <p:cNvSpPr>
            <a:spLocks noGrp="1"/>
          </p:cNvSpPr>
          <p:nvPr>
            <p:ph idx="1"/>
          </p:nvPr>
        </p:nvSpPr>
        <p:spPr>
          <a:xfrm>
            <a:off x="838200" y="1145754"/>
            <a:ext cx="10515600" cy="5031209"/>
          </a:xfrm>
        </p:spPr>
        <p:txBody>
          <a:bodyPr/>
          <a:lstStyle/>
          <a:p>
            <a:pPr marL="0" indent="0">
              <a:buNone/>
            </a:pPr>
            <a:endParaRPr lang="en-US" b="1" dirty="0"/>
          </a:p>
          <a:p>
            <a:pPr marL="0" indent="0" eaLnBrk="0" fontAlgn="base" hangingPunct="0">
              <a:lnSpc>
                <a:spcPct val="100000"/>
              </a:lnSpc>
              <a:spcBef>
                <a:spcPct val="0"/>
              </a:spcBef>
              <a:spcAft>
                <a:spcPct val="0"/>
              </a:spcAft>
              <a:buFontTx/>
              <a:buChar char="•"/>
            </a:pPr>
            <a:r>
              <a:rPr lang="en-US" dirty="0">
                <a:ea typeface="+mn-lt"/>
                <a:cs typeface="+mn-lt"/>
              </a:rPr>
              <a:t>Sample inputs and outputs: </a:t>
            </a:r>
          </a:p>
          <a:p>
            <a:pPr marL="0" indent="0" eaLnBrk="0" fontAlgn="base" hangingPunct="0">
              <a:lnSpc>
                <a:spcPct val="100000"/>
              </a:lnSpc>
              <a:spcBef>
                <a:spcPct val="0"/>
              </a:spcBef>
              <a:spcAft>
                <a:spcPct val="0"/>
              </a:spcAft>
              <a:buNone/>
            </a:pPr>
            <a:r>
              <a:rPr lang="en-US" dirty="0">
                <a:ea typeface="+mn-lt"/>
                <a:cs typeface="+mn-lt"/>
              </a:rPr>
              <a:t>                   </a:t>
            </a:r>
          </a:p>
          <a:p>
            <a:pPr marL="0" indent="0" eaLnBrk="0" fontAlgn="base" hangingPunct="0">
              <a:lnSpc>
                <a:spcPct val="100000"/>
              </a:lnSpc>
              <a:spcBef>
                <a:spcPct val="0"/>
              </a:spcBef>
              <a:spcAft>
                <a:spcPct val="0"/>
              </a:spcAft>
              <a:buNone/>
            </a:pPr>
            <a:r>
              <a:rPr lang="en-US" dirty="0">
                <a:ea typeface="+mn-lt"/>
                <a:cs typeface="+mn-lt"/>
              </a:rPr>
              <a:t>                             </a:t>
            </a:r>
          </a:p>
          <a:p>
            <a:pPr marL="0" indent="0" eaLnBrk="0" fontAlgn="base" hangingPunct="0">
              <a:lnSpc>
                <a:spcPct val="100000"/>
              </a:lnSpc>
              <a:spcBef>
                <a:spcPct val="0"/>
              </a:spcBef>
              <a:spcAft>
                <a:spcPct val="0"/>
              </a:spcAft>
              <a:buNone/>
            </a:pPr>
            <a:r>
              <a:rPr lang="en-US" dirty="0">
                <a:ea typeface="+mn-lt"/>
                <a:cs typeface="+mn-lt"/>
              </a:rPr>
              <a:t>       </a:t>
            </a:r>
          </a:p>
          <a:p>
            <a:pPr marL="0" indent="0" eaLnBrk="0" fontAlgn="base" hangingPunct="0">
              <a:lnSpc>
                <a:spcPct val="100000"/>
              </a:lnSpc>
              <a:spcBef>
                <a:spcPct val="0"/>
              </a:spcBef>
              <a:spcAft>
                <a:spcPct val="0"/>
              </a:spcAft>
              <a:buNone/>
            </a:pPr>
            <a:endParaRPr lang="en-US" dirty="0">
              <a:ea typeface="+mn-lt"/>
              <a:cs typeface="+mn-lt"/>
            </a:endParaRPr>
          </a:p>
          <a:p>
            <a:pPr marL="0" indent="0">
              <a:buNone/>
            </a:pPr>
            <a:endParaRPr lang="en-IN" dirty="0"/>
          </a:p>
        </p:txBody>
      </p:sp>
      <p:graphicFrame>
        <p:nvGraphicFramePr>
          <p:cNvPr id="17" name="Table 16">
            <a:extLst>
              <a:ext uri="{FF2B5EF4-FFF2-40B4-BE49-F238E27FC236}">
                <a16:creationId xmlns:a16="http://schemas.microsoft.com/office/drawing/2014/main" id="{CBFE713E-541D-AF93-5173-C4B6E197A6FF}"/>
              </a:ext>
            </a:extLst>
          </p:cNvPr>
          <p:cNvGraphicFramePr>
            <a:graphicFrameLocks noGrp="1"/>
          </p:cNvGraphicFramePr>
          <p:nvPr>
            <p:extLst>
              <p:ext uri="{D42A27DB-BD31-4B8C-83A1-F6EECF244321}">
                <p14:modId xmlns:p14="http://schemas.microsoft.com/office/powerpoint/2010/main" val="3567028091"/>
              </p:ext>
            </p:extLst>
          </p:nvPr>
        </p:nvGraphicFramePr>
        <p:xfrm>
          <a:off x="838199" y="2159306"/>
          <a:ext cx="10515600" cy="4245900"/>
        </p:xfrm>
        <a:graphic>
          <a:graphicData uri="http://schemas.openxmlformats.org/drawingml/2006/table">
            <a:tbl>
              <a:tblPr firstRow="1" bandRow="1">
                <a:tableStyleId>{5940675A-B579-460E-94D1-54222C63F5DA}</a:tableStyleId>
              </a:tblPr>
              <a:tblGrid>
                <a:gridCol w="4383796">
                  <a:extLst>
                    <a:ext uri="{9D8B030D-6E8A-4147-A177-3AD203B41FA5}">
                      <a16:colId xmlns:a16="http://schemas.microsoft.com/office/drawing/2014/main" val="1252969415"/>
                    </a:ext>
                  </a:extLst>
                </a:gridCol>
                <a:gridCol w="2626604">
                  <a:extLst>
                    <a:ext uri="{9D8B030D-6E8A-4147-A177-3AD203B41FA5}">
                      <a16:colId xmlns:a16="http://schemas.microsoft.com/office/drawing/2014/main" val="2836214309"/>
                    </a:ext>
                  </a:extLst>
                </a:gridCol>
                <a:gridCol w="3505200">
                  <a:extLst>
                    <a:ext uri="{9D8B030D-6E8A-4147-A177-3AD203B41FA5}">
                      <a16:colId xmlns:a16="http://schemas.microsoft.com/office/drawing/2014/main" val="1114056738"/>
                    </a:ext>
                  </a:extLst>
                </a:gridCol>
              </a:tblGrid>
              <a:tr h="832875">
                <a:tc>
                  <a:txBody>
                    <a:bodyPr/>
                    <a:lstStyle/>
                    <a:p>
                      <a:r>
                        <a:rPr lang="en-US" dirty="0"/>
                        <a:t>           </a:t>
                      </a:r>
                    </a:p>
                    <a:p>
                      <a:r>
                        <a:rPr lang="en-US" b="1" dirty="0"/>
                        <a:t>             Email Message</a:t>
                      </a:r>
                    </a:p>
                  </a:txBody>
                  <a:tcPr/>
                </a:tc>
                <a:tc>
                  <a:txBody>
                    <a:bodyPr/>
                    <a:lstStyle/>
                    <a:p>
                      <a:pPr>
                        <a:buNone/>
                      </a:pPr>
                      <a:r>
                        <a:rPr lang="en-US" b="1" dirty="0"/>
                        <a:t>     Actual Label</a:t>
                      </a:r>
                    </a:p>
                  </a:txBody>
                  <a:tcPr anchor="ctr"/>
                </a:tc>
                <a:tc>
                  <a:txBody>
                    <a:bodyPr/>
                    <a:lstStyle/>
                    <a:p>
                      <a:endParaRPr lang="en-US" dirty="0"/>
                    </a:p>
                    <a:p>
                      <a:r>
                        <a:rPr lang="en-US" dirty="0"/>
                        <a:t>               </a:t>
                      </a:r>
                      <a:r>
                        <a:rPr lang="en-US" b="1" dirty="0"/>
                        <a:t>Predicted Result</a:t>
                      </a:r>
                    </a:p>
                  </a:txBody>
                  <a:tcPr/>
                </a:tc>
                <a:extLst>
                  <a:ext uri="{0D108BD9-81ED-4DB2-BD59-A6C34878D82A}">
                    <a16:rowId xmlns:a16="http://schemas.microsoft.com/office/drawing/2014/main" val="1492186145"/>
                  </a:ext>
                </a:extLst>
              </a:tr>
              <a:tr h="832875">
                <a:tc>
                  <a:txBody>
                    <a:bodyPr/>
                    <a:lstStyle/>
                    <a:p>
                      <a:r>
                        <a:rPr lang="en-US" dirty="0"/>
                        <a:t> </a:t>
                      </a:r>
                    </a:p>
                    <a:p>
                      <a:r>
                        <a:rPr lang="en-US" dirty="0"/>
                        <a:t>Hello, how are you today?</a:t>
                      </a:r>
                    </a:p>
                  </a:txBody>
                  <a:tcPr/>
                </a:tc>
                <a:tc>
                  <a:txBody>
                    <a:bodyPr/>
                    <a:lstStyle/>
                    <a:p>
                      <a:endParaRPr lang="en-US" dirty="0"/>
                    </a:p>
                    <a:p>
                      <a:r>
                        <a:rPr lang="en-US" dirty="0"/>
                        <a:t>               Ham</a:t>
                      </a:r>
                    </a:p>
                  </a:txBody>
                  <a:tcPr/>
                </a:tc>
                <a:tc>
                  <a:txBody>
                    <a:bodyPr/>
                    <a:lstStyle/>
                    <a:p>
                      <a:r>
                        <a:rPr lang="en-US" dirty="0"/>
                        <a:t> </a:t>
                      </a:r>
                    </a:p>
                    <a:p>
                      <a:r>
                        <a:rPr lang="en-US" dirty="0"/>
                        <a:t>                   Ham</a:t>
                      </a:r>
                    </a:p>
                  </a:txBody>
                  <a:tcPr/>
                </a:tc>
                <a:extLst>
                  <a:ext uri="{0D108BD9-81ED-4DB2-BD59-A6C34878D82A}">
                    <a16:rowId xmlns:a16="http://schemas.microsoft.com/office/drawing/2014/main" val="3867520045"/>
                  </a:ext>
                </a:extLst>
              </a:tr>
              <a:tr h="832875">
                <a:tc>
                  <a:txBody>
                    <a:bodyPr/>
                    <a:lstStyle/>
                    <a:p>
                      <a:endParaRPr lang="en-US" dirty="0"/>
                    </a:p>
                    <a:p>
                      <a:r>
                        <a:rPr lang="en-US" dirty="0"/>
                        <a:t>Congratulations! You won ₹50,000. Click here.</a:t>
                      </a:r>
                    </a:p>
                  </a:txBody>
                  <a:tcPr/>
                </a:tc>
                <a:tc>
                  <a:txBody>
                    <a:bodyPr/>
                    <a:lstStyle/>
                    <a:p>
                      <a:endParaRPr lang="en-US" dirty="0"/>
                    </a:p>
                    <a:p>
                      <a:r>
                        <a:rPr lang="en-US" dirty="0"/>
                        <a:t>              Spam</a:t>
                      </a:r>
                    </a:p>
                  </a:txBody>
                  <a:tcPr/>
                </a:tc>
                <a:tc>
                  <a:txBody>
                    <a:bodyPr/>
                    <a:lstStyle/>
                    <a:p>
                      <a:endParaRPr lang="en-US" dirty="0"/>
                    </a:p>
                    <a:p>
                      <a:r>
                        <a:rPr lang="en-US" dirty="0"/>
                        <a:t>                   Spam</a:t>
                      </a:r>
                    </a:p>
                  </a:txBody>
                  <a:tcPr/>
                </a:tc>
                <a:extLst>
                  <a:ext uri="{0D108BD9-81ED-4DB2-BD59-A6C34878D82A}">
                    <a16:rowId xmlns:a16="http://schemas.microsoft.com/office/drawing/2014/main" val="3229454190"/>
                  </a:ext>
                </a:extLst>
              </a:tr>
              <a:tr h="832875">
                <a:tc>
                  <a:txBody>
                    <a:bodyPr/>
                    <a:lstStyle/>
                    <a:p>
                      <a:r>
                        <a:rPr lang="en-US" dirty="0"/>
                        <a:t>Please attend today's project meeting</a:t>
                      </a:r>
                    </a:p>
                  </a:txBody>
                  <a:tcPr/>
                </a:tc>
                <a:tc>
                  <a:txBody>
                    <a:bodyPr/>
                    <a:lstStyle/>
                    <a:p>
                      <a:r>
                        <a:rPr lang="en-US" dirty="0"/>
                        <a:t>               Ham</a:t>
                      </a:r>
                    </a:p>
                  </a:txBody>
                  <a:tcPr/>
                </a:tc>
                <a:tc>
                  <a:txBody>
                    <a:bodyPr/>
                    <a:lstStyle/>
                    <a:p>
                      <a:r>
                        <a:rPr lang="en-US" dirty="0"/>
                        <a:t>                    Ham</a:t>
                      </a:r>
                    </a:p>
                  </a:txBody>
                  <a:tcPr/>
                </a:tc>
                <a:extLst>
                  <a:ext uri="{0D108BD9-81ED-4DB2-BD59-A6C34878D82A}">
                    <a16:rowId xmlns:a16="http://schemas.microsoft.com/office/drawing/2014/main" val="3737212356"/>
                  </a:ext>
                </a:extLst>
              </a:tr>
              <a:tr h="832875">
                <a:tc>
                  <a:txBody>
                    <a:bodyPr/>
                    <a:lstStyle/>
                    <a:p>
                      <a:r>
                        <a:rPr lang="en-US" dirty="0"/>
                        <a:t>Limited-time offer! Buy now and save 70%.</a:t>
                      </a:r>
                    </a:p>
                  </a:txBody>
                  <a:tcPr/>
                </a:tc>
                <a:tc>
                  <a:txBody>
                    <a:bodyPr/>
                    <a:lstStyle/>
                    <a:p>
                      <a:r>
                        <a:rPr lang="en-US" dirty="0"/>
                        <a:t>             Spam</a:t>
                      </a:r>
                    </a:p>
                  </a:txBody>
                  <a:tcPr/>
                </a:tc>
                <a:tc>
                  <a:txBody>
                    <a:bodyPr/>
                    <a:lstStyle/>
                    <a:p>
                      <a:r>
                        <a:rPr lang="en-US" dirty="0"/>
                        <a:t>                  Spam</a:t>
                      </a:r>
                    </a:p>
                  </a:txBody>
                  <a:tcPr/>
                </a:tc>
                <a:extLst>
                  <a:ext uri="{0D108BD9-81ED-4DB2-BD59-A6C34878D82A}">
                    <a16:rowId xmlns:a16="http://schemas.microsoft.com/office/drawing/2014/main" val="2009187859"/>
                  </a:ext>
                </a:extLst>
              </a:tr>
            </a:tbl>
          </a:graphicData>
        </a:graphic>
      </p:graphicFrame>
    </p:spTree>
    <p:extLst>
      <p:ext uri="{BB962C8B-B14F-4D97-AF65-F5344CB8AC3E}">
        <p14:creationId xmlns:p14="http://schemas.microsoft.com/office/powerpoint/2010/main" val="34699669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9712E87-FBDD-AF86-7987-4CED316F8324}"/>
              </a:ext>
            </a:extLst>
          </p:cNvPr>
          <p:cNvSpPr txBox="1"/>
          <p:nvPr/>
        </p:nvSpPr>
        <p:spPr>
          <a:xfrm>
            <a:off x="1635695" y="552922"/>
            <a:ext cx="8427904" cy="7448193"/>
          </a:xfrm>
          <a:prstGeom prst="rect">
            <a:avLst/>
          </a:prstGeom>
          <a:noFill/>
        </p:spPr>
        <p:txBody>
          <a:bodyPr wrap="square">
            <a:spAutoFit/>
          </a:bodyPr>
          <a:lstStyle/>
          <a:p>
            <a:pPr eaLnBrk="0" fontAlgn="base" hangingPunct="0">
              <a:spcBef>
                <a:spcPct val="0"/>
              </a:spcBef>
              <a:spcAft>
                <a:spcPct val="0"/>
              </a:spcAft>
            </a:pPr>
            <a:r>
              <a:rPr lang="en-US" sz="2400" b="1" dirty="0">
                <a:ea typeface="+mn-lt"/>
                <a:cs typeface="+mn-lt"/>
              </a:rPr>
              <a:t>Performance metrics (accuracy, error, etc.):</a:t>
            </a:r>
          </a:p>
          <a:p>
            <a:pPr eaLnBrk="0" fontAlgn="base" hangingPunct="0">
              <a:spcBef>
                <a:spcPct val="0"/>
              </a:spcBef>
              <a:spcAft>
                <a:spcPct val="0"/>
              </a:spcAft>
              <a:buFontTx/>
              <a:buChar char="•"/>
            </a:pPr>
            <a:r>
              <a:rPr lang="en-US" sz="2000" dirty="0"/>
              <a:t>The trained model was evaluated using standard classification metrics.</a:t>
            </a:r>
          </a:p>
          <a:p>
            <a:pPr eaLnBrk="0" fontAlgn="base" hangingPunct="0">
              <a:spcBef>
                <a:spcPct val="0"/>
              </a:spcBef>
              <a:spcAft>
                <a:spcPct val="0"/>
              </a:spcAft>
              <a:buFontTx/>
              <a:buChar char="•"/>
            </a:pPr>
            <a:endParaRPr lang="en-US" sz="2000" b="1" dirty="0">
              <a:ea typeface="+mn-lt"/>
              <a:cs typeface="+mn-lt"/>
            </a:endParaRPr>
          </a:p>
          <a:p>
            <a:pPr eaLnBrk="0" fontAlgn="base" hangingPunct="0">
              <a:spcBef>
                <a:spcPct val="0"/>
              </a:spcBef>
              <a:spcAft>
                <a:spcPct val="0"/>
              </a:spcAft>
            </a:pPr>
            <a:r>
              <a:rPr lang="en-US" sz="2400" b="1" dirty="0">
                <a:ea typeface="+mn-lt"/>
                <a:cs typeface="+mn-lt"/>
              </a:rPr>
              <a:t>    </a:t>
            </a:r>
          </a:p>
          <a:p>
            <a:pPr eaLnBrk="0" fontAlgn="base" hangingPunct="0">
              <a:spcBef>
                <a:spcPct val="0"/>
              </a:spcBef>
              <a:spcAft>
                <a:spcPct val="0"/>
              </a:spcAft>
              <a:buFontTx/>
              <a:buChar char="•"/>
            </a:pPr>
            <a:endParaRPr lang="en-US" sz="2400" b="1" dirty="0">
              <a:ea typeface="+mn-lt"/>
              <a:cs typeface="+mn-lt"/>
            </a:endParaRPr>
          </a:p>
          <a:p>
            <a:pPr eaLnBrk="0" fontAlgn="base" hangingPunct="0">
              <a:spcBef>
                <a:spcPct val="0"/>
              </a:spcBef>
              <a:spcAft>
                <a:spcPct val="0"/>
              </a:spcAft>
              <a:buFontTx/>
              <a:buChar char="•"/>
            </a:pPr>
            <a:endParaRPr lang="en-US" sz="2400" b="1" dirty="0">
              <a:ea typeface="+mn-lt"/>
              <a:cs typeface="+mn-lt"/>
            </a:endParaRPr>
          </a:p>
          <a:p>
            <a:pPr eaLnBrk="0" fontAlgn="base" hangingPunct="0">
              <a:spcBef>
                <a:spcPct val="0"/>
              </a:spcBef>
              <a:spcAft>
                <a:spcPct val="0"/>
              </a:spcAft>
              <a:buFontTx/>
              <a:buChar char="•"/>
            </a:pPr>
            <a:endParaRPr lang="en-US" sz="2400" b="1" dirty="0">
              <a:ea typeface="+mn-lt"/>
              <a:cs typeface="+mn-lt"/>
            </a:endParaRPr>
          </a:p>
          <a:p>
            <a:pPr eaLnBrk="0" fontAlgn="base" hangingPunct="0">
              <a:spcBef>
                <a:spcPct val="0"/>
              </a:spcBef>
              <a:spcAft>
                <a:spcPct val="0"/>
              </a:spcAft>
              <a:buFontTx/>
              <a:buChar char="•"/>
            </a:pPr>
            <a:endParaRPr lang="en-US" sz="2400" b="1" dirty="0">
              <a:ea typeface="+mn-lt"/>
              <a:cs typeface="+mn-lt"/>
            </a:endParaRPr>
          </a:p>
          <a:p>
            <a:pPr eaLnBrk="0" fontAlgn="base" hangingPunct="0">
              <a:spcBef>
                <a:spcPct val="0"/>
              </a:spcBef>
              <a:spcAft>
                <a:spcPct val="0"/>
              </a:spcAft>
              <a:buFontTx/>
              <a:buChar char="•"/>
            </a:pPr>
            <a:endParaRPr lang="en-US" sz="2400" b="1" dirty="0">
              <a:ea typeface="+mn-lt"/>
              <a:cs typeface="+mn-lt"/>
            </a:endParaRPr>
          </a:p>
          <a:p>
            <a:pPr eaLnBrk="0" fontAlgn="base" hangingPunct="0">
              <a:spcBef>
                <a:spcPct val="0"/>
              </a:spcBef>
              <a:spcAft>
                <a:spcPct val="0"/>
              </a:spcAft>
              <a:buFontTx/>
              <a:buChar char="•"/>
            </a:pPr>
            <a:endParaRPr lang="en-US" sz="2400" b="1" dirty="0">
              <a:ea typeface="+mn-lt"/>
              <a:cs typeface="+mn-lt"/>
            </a:endParaRPr>
          </a:p>
          <a:p>
            <a:r>
              <a:rPr lang="en-US" sz="2400" b="1" dirty="0"/>
              <a:t>Interpretation</a:t>
            </a:r>
          </a:p>
          <a:p>
            <a:r>
              <a:rPr lang="en-US" b="1" dirty="0"/>
              <a:t>Accuracy (90%)</a:t>
            </a:r>
            <a:r>
              <a:rPr lang="en-US" dirty="0"/>
              <a:t> – The model correctly classified 90% of the emails.</a:t>
            </a:r>
          </a:p>
          <a:p>
            <a:r>
              <a:rPr lang="en-US" b="1" dirty="0"/>
              <a:t>Precision (100%)</a:t>
            </a:r>
            <a:r>
              <a:rPr lang="en-US" dirty="0"/>
              <a:t> – Every email predicted as spam was actually spam.</a:t>
            </a:r>
          </a:p>
          <a:p>
            <a:r>
              <a:rPr lang="en-US" b="1" dirty="0"/>
              <a:t>Recall (83%)</a:t>
            </a:r>
            <a:r>
              <a:rPr lang="en-US" dirty="0"/>
              <a:t> – The model detected 83% of all spam emails.</a:t>
            </a:r>
          </a:p>
          <a:p>
            <a:r>
              <a:rPr lang="en-US" b="1" dirty="0"/>
              <a:t>F1-Score (91%)</a:t>
            </a:r>
            <a:r>
              <a:rPr lang="en-US" dirty="0"/>
              <a:t> – Shows a good balance between Precision and Recall</a:t>
            </a:r>
            <a:r>
              <a:rPr lang="en-US" sz="2400" dirty="0"/>
              <a:t>.</a:t>
            </a:r>
          </a:p>
          <a:p>
            <a:pPr eaLnBrk="0" fontAlgn="base" hangingPunct="0">
              <a:spcBef>
                <a:spcPct val="0"/>
              </a:spcBef>
              <a:spcAft>
                <a:spcPct val="0"/>
              </a:spcAft>
              <a:buFontTx/>
              <a:buChar char="•"/>
            </a:pPr>
            <a:endParaRPr lang="en-US" sz="2400" b="1" dirty="0">
              <a:ea typeface="+mn-lt"/>
              <a:cs typeface="+mn-lt"/>
            </a:endParaRPr>
          </a:p>
          <a:p>
            <a:pPr eaLnBrk="0" fontAlgn="base" hangingPunct="0">
              <a:spcBef>
                <a:spcPct val="0"/>
              </a:spcBef>
              <a:spcAft>
                <a:spcPct val="0"/>
              </a:spcAft>
              <a:buFontTx/>
              <a:buChar char="•"/>
            </a:pPr>
            <a:endParaRPr lang="en-US" sz="2400" b="1" dirty="0">
              <a:ea typeface="+mn-lt"/>
              <a:cs typeface="+mn-lt"/>
            </a:endParaRPr>
          </a:p>
          <a:p>
            <a:pPr eaLnBrk="0" fontAlgn="base" hangingPunct="0">
              <a:spcBef>
                <a:spcPct val="0"/>
              </a:spcBef>
              <a:spcAft>
                <a:spcPct val="0"/>
              </a:spcAft>
            </a:pPr>
            <a:endParaRPr lang="en-US" sz="2400" b="1" dirty="0">
              <a:ea typeface="+mn-lt"/>
              <a:cs typeface="+mn-lt"/>
            </a:endParaRPr>
          </a:p>
          <a:p>
            <a:pPr eaLnBrk="0" fontAlgn="base" hangingPunct="0">
              <a:spcBef>
                <a:spcPct val="0"/>
              </a:spcBef>
              <a:spcAft>
                <a:spcPct val="0"/>
              </a:spcAft>
            </a:pPr>
            <a:endParaRPr lang="en-US" sz="2400" b="1" dirty="0">
              <a:ea typeface="+mn-lt"/>
              <a:cs typeface="+mn-lt"/>
            </a:endParaRPr>
          </a:p>
          <a:p>
            <a:pPr eaLnBrk="0" fontAlgn="base" hangingPunct="0">
              <a:spcBef>
                <a:spcPct val="0"/>
              </a:spcBef>
              <a:spcAft>
                <a:spcPct val="0"/>
              </a:spcAft>
            </a:pPr>
            <a:endParaRPr lang="en-US" sz="2400" dirty="0">
              <a:ea typeface="+mn-lt"/>
              <a:cs typeface="+mn-lt"/>
            </a:endParaRPr>
          </a:p>
          <a:p>
            <a:pPr marL="0" indent="0" eaLnBrk="0" fontAlgn="base" hangingPunct="0">
              <a:lnSpc>
                <a:spcPct val="100000"/>
              </a:lnSpc>
              <a:spcBef>
                <a:spcPct val="0"/>
              </a:spcBef>
              <a:spcAft>
                <a:spcPct val="0"/>
              </a:spcAft>
              <a:buFontTx/>
              <a:buChar char="•"/>
            </a:pPr>
            <a:endParaRPr lang="en-US" sz="2400" b="1" dirty="0">
              <a:ea typeface="+mn-lt"/>
              <a:cs typeface="+mn-lt"/>
            </a:endParaRPr>
          </a:p>
        </p:txBody>
      </p:sp>
      <p:graphicFrame>
        <p:nvGraphicFramePr>
          <p:cNvPr id="15" name="Table 14">
            <a:extLst>
              <a:ext uri="{FF2B5EF4-FFF2-40B4-BE49-F238E27FC236}">
                <a16:creationId xmlns:a16="http://schemas.microsoft.com/office/drawing/2014/main" id="{8538AB46-8475-1D02-0131-A3DAD3C260E9}"/>
              </a:ext>
            </a:extLst>
          </p:cNvPr>
          <p:cNvGraphicFramePr>
            <a:graphicFrameLocks noGrp="1"/>
          </p:cNvGraphicFramePr>
          <p:nvPr>
            <p:extLst>
              <p:ext uri="{D42A27DB-BD31-4B8C-83A1-F6EECF244321}">
                <p14:modId xmlns:p14="http://schemas.microsoft.com/office/powerpoint/2010/main" val="3617390077"/>
              </p:ext>
            </p:extLst>
          </p:nvPr>
        </p:nvGraphicFramePr>
        <p:xfrm>
          <a:off x="1549115" y="1530849"/>
          <a:ext cx="8128000" cy="2408262"/>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723749598"/>
                    </a:ext>
                  </a:extLst>
                </a:gridCol>
                <a:gridCol w="4064000">
                  <a:extLst>
                    <a:ext uri="{9D8B030D-6E8A-4147-A177-3AD203B41FA5}">
                      <a16:colId xmlns:a16="http://schemas.microsoft.com/office/drawing/2014/main" val="437229464"/>
                    </a:ext>
                  </a:extLst>
                </a:gridCol>
              </a:tblGrid>
              <a:tr h="662150">
                <a:tc>
                  <a:txBody>
                    <a:bodyPr/>
                    <a:lstStyle/>
                    <a:p>
                      <a:r>
                        <a:rPr lang="en-US" b="1" dirty="0"/>
                        <a:t>  </a:t>
                      </a:r>
                    </a:p>
                    <a:p>
                      <a:r>
                        <a:rPr lang="en-US" b="1" dirty="0"/>
                        <a:t>                            Metric</a:t>
                      </a:r>
                    </a:p>
                  </a:txBody>
                  <a:tcPr/>
                </a:tc>
                <a:tc>
                  <a:txBody>
                    <a:bodyPr/>
                    <a:lstStyle/>
                    <a:p>
                      <a:r>
                        <a:rPr lang="en-US" b="1" dirty="0"/>
                        <a:t> </a:t>
                      </a:r>
                    </a:p>
                    <a:p>
                      <a:r>
                        <a:rPr lang="en-US" b="1" dirty="0"/>
                        <a:t>                                 Value</a:t>
                      </a:r>
                    </a:p>
                  </a:txBody>
                  <a:tcPr/>
                </a:tc>
                <a:extLst>
                  <a:ext uri="{0D108BD9-81ED-4DB2-BD59-A6C34878D82A}">
                    <a16:rowId xmlns:a16="http://schemas.microsoft.com/office/drawing/2014/main" val="2059021879"/>
                  </a:ext>
                </a:extLst>
              </a:tr>
              <a:tr h="436528">
                <a:tc>
                  <a:txBody>
                    <a:bodyPr/>
                    <a:lstStyle/>
                    <a:p>
                      <a:pPr>
                        <a:buNone/>
                      </a:pPr>
                      <a:r>
                        <a:rPr lang="en-US" dirty="0"/>
                        <a:t>                        Accuracy</a:t>
                      </a:r>
                    </a:p>
                  </a:txBody>
                  <a:tcPr anchor="ctr"/>
                </a:tc>
                <a:tc>
                  <a:txBody>
                    <a:bodyPr/>
                    <a:lstStyle/>
                    <a:p>
                      <a:r>
                        <a:rPr lang="en-US" dirty="0"/>
                        <a:t>                                 90%</a:t>
                      </a:r>
                    </a:p>
                  </a:txBody>
                  <a:tcPr/>
                </a:tc>
                <a:extLst>
                  <a:ext uri="{0D108BD9-81ED-4DB2-BD59-A6C34878D82A}">
                    <a16:rowId xmlns:a16="http://schemas.microsoft.com/office/drawing/2014/main" val="1484019946"/>
                  </a:ext>
                </a:extLst>
              </a:tr>
              <a:tr h="436528">
                <a:tc>
                  <a:txBody>
                    <a:bodyPr/>
                    <a:lstStyle/>
                    <a:p>
                      <a:r>
                        <a:rPr lang="en-US" dirty="0"/>
                        <a:t>                        Precision</a:t>
                      </a:r>
                    </a:p>
                  </a:txBody>
                  <a:tcPr/>
                </a:tc>
                <a:tc>
                  <a:txBody>
                    <a:bodyPr/>
                    <a:lstStyle/>
                    <a:p>
                      <a:r>
                        <a:rPr lang="en-US" dirty="0"/>
                        <a:t>                                100%</a:t>
                      </a:r>
                    </a:p>
                  </a:txBody>
                  <a:tcPr/>
                </a:tc>
                <a:extLst>
                  <a:ext uri="{0D108BD9-81ED-4DB2-BD59-A6C34878D82A}">
                    <a16:rowId xmlns:a16="http://schemas.microsoft.com/office/drawing/2014/main" val="1134193665"/>
                  </a:ext>
                </a:extLst>
              </a:tr>
              <a:tr h="436528">
                <a:tc>
                  <a:txBody>
                    <a:bodyPr/>
                    <a:lstStyle/>
                    <a:p>
                      <a:r>
                        <a:rPr lang="en-US" dirty="0"/>
                        <a:t>                        Recall</a:t>
                      </a:r>
                    </a:p>
                  </a:txBody>
                  <a:tcPr/>
                </a:tc>
                <a:tc>
                  <a:txBody>
                    <a:bodyPr/>
                    <a:lstStyle/>
                    <a:p>
                      <a:r>
                        <a:rPr lang="en-US" dirty="0"/>
                        <a:t>                                 83%</a:t>
                      </a:r>
                    </a:p>
                  </a:txBody>
                  <a:tcPr/>
                </a:tc>
                <a:extLst>
                  <a:ext uri="{0D108BD9-81ED-4DB2-BD59-A6C34878D82A}">
                    <a16:rowId xmlns:a16="http://schemas.microsoft.com/office/drawing/2014/main" val="2033722509"/>
                  </a:ext>
                </a:extLst>
              </a:tr>
              <a:tr h="436528">
                <a:tc>
                  <a:txBody>
                    <a:bodyPr/>
                    <a:lstStyle/>
                    <a:p>
                      <a:r>
                        <a:rPr lang="en-US" dirty="0"/>
                        <a:t>                         F1-Score</a:t>
                      </a:r>
                    </a:p>
                  </a:txBody>
                  <a:tcPr/>
                </a:tc>
                <a:tc>
                  <a:txBody>
                    <a:bodyPr/>
                    <a:lstStyle/>
                    <a:p>
                      <a:r>
                        <a:rPr lang="en-US" dirty="0"/>
                        <a:t>                                  91%</a:t>
                      </a:r>
                    </a:p>
                  </a:txBody>
                  <a:tcPr/>
                </a:tc>
                <a:extLst>
                  <a:ext uri="{0D108BD9-81ED-4DB2-BD59-A6C34878D82A}">
                    <a16:rowId xmlns:a16="http://schemas.microsoft.com/office/drawing/2014/main" val="2462441232"/>
                  </a:ext>
                </a:extLst>
              </a:tr>
            </a:tbl>
          </a:graphicData>
        </a:graphic>
      </p:graphicFrame>
    </p:spTree>
    <p:extLst>
      <p:ext uri="{BB962C8B-B14F-4D97-AF65-F5344CB8AC3E}">
        <p14:creationId xmlns:p14="http://schemas.microsoft.com/office/powerpoint/2010/main" val="35112417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11A4CB0-F7EA-4113-89C0-7CFC3DCAF366}"/>
              </a:ext>
            </a:extLst>
          </p:cNvPr>
          <p:cNvSpPr txBox="1"/>
          <p:nvPr/>
        </p:nvSpPr>
        <p:spPr>
          <a:xfrm>
            <a:off x="893852" y="708916"/>
            <a:ext cx="9205644" cy="1785104"/>
          </a:xfrm>
          <a:prstGeom prst="rect">
            <a:avLst/>
          </a:prstGeom>
          <a:noFill/>
        </p:spPr>
        <p:txBody>
          <a:bodyPr wrap="square">
            <a:spAutoFit/>
          </a:bodyPr>
          <a:lstStyle/>
          <a:p>
            <a:pPr marL="0" indent="0" eaLnBrk="0" fontAlgn="base" hangingPunct="0">
              <a:lnSpc>
                <a:spcPct val="100000"/>
              </a:lnSpc>
              <a:spcBef>
                <a:spcPct val="0"/>
              </a:spcBef>
              <a:spcAft>
                <a:spcPct val="0"/>
              </a:spcAft>
              <a:buFontTx/>
              <a:buChar char="•"/>
            </a:pPr>
            <a:r>
              <a:rPr lang="en-US" sz="2000" dirty="0">
                <a:ea typeface="+mn-lt"/>
                <a:cs typeface="+mn-lt"/>
              </a:rPr>
              <a:t>Graphs / table</a:t>
            </a:r>
          </a:p>
          <a:p>
            <a:pPr marL="0" indent="0" eaLnBrk="0" fontAlgn="base" hangingPunct="0">
              <a:lnSpc>
                <a:spcPct val="100000"/>
              </a:lnSpc>
              <a:spcBef>
                <a:spcPct val="0"/>
              </a:spcBef>
              <a:spcAft>
                <a:spcPct val="0"/>
              </a:spcAft>
              <a:buFontTx/>
              <a:buChar char="•"/>
            </a:pPr>
            <a:endParaRPr lang="en-US" dirty="0">
              <a:ea typeface="+mn-lt"/>
              <a:cs typeface="+mn-lt"/>
            </a:endParaRPr>
          </a:p>
          <a:p>
            <a:pPr marL="0" indent="0" eaLnBrk="0" fontAlgn="base" hangingPunct="0">
              <a:lnSpc>
                <a:spcPct val="100000"/>
              </a:lnSpc>
              <a:spcBef>
                <a:spcPct val="0"/>
              </a:spcBef>
              <a:spcAft>
                <a:spcPct val="0"/>
              </a:spcAft>
              <a:buFontTx/>
              <a:buChar char="•"/>
            </a:pPr>
            <a:endParaRPr lang="en-US" dirty="0">
              <a:ea typeface="+mn-lt"/>
              <a:cs typeface="+mn-lt"/>
            </a:endParaRPr>
          </a:p>
          <a:p>
            <a:pPr marL="0" indent="0" eaLnBrk="0" fontAlgn="base" hangingPunct="0">
              <a:lnSpc>
                <a:spcPct val="100000"/>
              </a:lnSpc>
              <a:spcBef>
                <a:spcPct val="0"/>
              </a:spcBef>
              <a:spcAft>
                <a:spcPct val="0"/>
              </a:spcAft>
              <a:buFontTx/>
              <a:buChar char="•"/>
            </a:pPr>
            <a:endParaRPr lang="en-US" dirty="0">
              <a:ea typeface="+mn-lt"/>
              <a:cs typeface="+mn-lt"/>
            </a:endParaRPr>
          </a:p>
          <a:p>
            <a:pPr marL="0" indent="0" eaLnBrk="0" fontAlgn="base" hangingPunct="0">
              <a:lnSpc>
                <a:spcPct val="100000"/>
              </a:lnSpc>
              <a:spcBef>
                <a:spcPct val="0"/>
              </a:spcBef>
              <a:spcAft>
                <a:spcPct val="0"/>
              </a:spcAft>
              <a:buFontTx/>
              <a:buChar char="•"/>
            </a:pPr>
            <a:endParaRPr lang="en-US" dirty="0">
              <a:ea typeface="+mn-lt"/>
              <a:cs typeface="+mn-lt"/>
            </a:endParaRPr>
          </a:p>
          <a:p>
            <a:pPr marL="0" indent="0" eaLnBrk="0" fontAlgn="base" hangingPunct="0">
              <a:lnSpc>
                <a:spcPct val="100000"/>
              </a:lnSpc>
              <a:spcBef>
                <a:spcPct val="0"/>
              </a:spcBef>
              <a:spcAft>
                <a:spcPct val="0"/>
              </a:spcAft>
              <a:buFontTx/>
              <a:buChar char="•"/>
            </a:pPr>
            <a:endParaRPr lang="en-US" dirty="0">
              <a:ea typeface="+mn-lt"/>
              <a:cs typeface="+mn-lt"/>
            </a:endParaRPr>
          </a:p>
        </p:txBody>
      </p:sp>
      <p:graphicFrame>
        <p:nvGraphicFramePr>
          <p:cNvPr id="12" name="Chart 11">
            <a:extLst>
              <a:ext uri="{FF2B5EF4-FFF2-40B4-BE49-F238E27FC236}">
                <a16:creationId xmlns:a16="http://schemas.microsoft.com/office/drawing/2014/main" id="{29D56C46-11B4-5A14-F3FF-0122E0338254}"/>
              </a:ext>
            </a:extLst>
          </p:cNvPr>
          <p:cNvGraphicFramePr/>
          <p:nvPr>
            <p:extLst>
              <p:ext uri="{D42A27DB-BD31-4B8C-83A1-F6EECF244321}">
                <p14:modId xmlns:p14="http://schemas.microsoft.com/office/powerpoint/2010/main" val="1914931367"/>
              </p:ext>
            </p:extLst>
          </p:nvPr>
        </p:nvGraphicFramePr>
        <p:xfrm>
          <a:off x="1734050" y="935423"/>
          <a:ext cx="8128000" cy="541866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6670240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080EE-5896-4830-6EE7-ED6C02C69C63}"/>
              </a:ext>
            </a:extLst>
          </p:cNvPr>
          <p:cNvSpPr>
            <a:spLocks noGrp="1"/>
          </p:cNvSpPr>
          <p:nvPr>
            <p:ph type="title"/>
          </p:nvPr>
        </p:nvSpPr>
        <p:spPr/>
        <p:txBody>
          <a:bodyPr/>
          <a:lstStyle/>
          <a:p>
            <a:r>
              <a:rPr lang="en-US" b="1" dirty="0"/>
              <a:t>Testing &amp; Validation</a:t>
            </a:r>
            <a:endParaRPr lang="en-IN" dirty="0"/>
          </a:p>
        </p:txBody>
      </p:sp>
      <p:sp>
        <p:nvSpPr>
          <p:cNvPr id="3" name="Content Placeholder 2">
            <a:extLst>
              <a:ext uri="{FF2B5EF4-FFF2-40B4-BE49-F238E27FC236}">
                <a16:creationId xmlns:a16="http://schemas.microsoft.com/office/drawing/2014/main" id="{EAF08F35-9185-E219-FEA3-B9B77303548D}"/>
              </a:ext>
            </a:extLst>
          </p:cNvPr>
          <p:cNvSpPr>
            <a:spLocks noGrp="1"/>
          </p:cNvSpPr>
          <p:nvPr>
            <p:ph idx="1"/>
          </p:nvPr>
        </p:nvSpPr>
        <p:spPr>
          <a:xfrm>
            <a:off x="838200" y="1530849"/>
            <a:ext cx="10515600" cy="4646114"/>
          </a:xfrm>
        </p:spPr>
        <p:txBody>
          <a:bodyPr>
            <a:normAutofit lnSpcReduction="10000"/>
          </a:bodyPr>
          <a:lstStyle/>
          <a:p>
            <a:pPr marL="0" indent="0">
              <a:buNone/>
            </a:pPr>
            <a:endParaRPr lang="en-US" b="1" dirty="0"/>
          </a:p>
          <a:p>
            <a:r>
              <a:rPr lang="en-US" dirty="0"/>
              <a:t>Types of testing performed :</a:t>
            </a:r>
          </a:p>
          <a:p>
            <a:pPr marL="0" indent="0">
              <a:buNone/>
            </a:pPr>
            <a:r>
              <a:rPr lang="en-US" sz="2100" b="1" dirty="0"/>
              <a:t>   1. Functional Testing</a:t>
            </a:r>
          </a:p>
          <a:p>
            <a:r>
              <a:rPr lang="en-US" sz="2100" dirty="0"/>
              <a:t>Verified that the system correctly classifies emails as </a:t>
            </a:r>
            <a:r>
              <a:rPr lang="en-US" sz="2100" b="1" dirty="0"/>
              <a:t>Spam</a:t>
            </a:r>
            <a:r>
              <a:rPr lang="en-US" sz="2100" dirty="0"/>
              <a:t> or </a:t>
            </a:r>
            <a:r>
              <a:rPr lang="en-US" sz="2100" b="1" dirty="0"/>
              <a:t>Ham</a:t>
            </a:r>
            <a:r>
              <a:rPr lang="en-US" sz="2100" dirty="0"/>
              <a:t>.</a:t>
            </a:r>
          </a:p>
          <a:p>
            <a:r>
              <a:rPr lang="en-US" sz="2100" dirty="0"/>
              <a:t>Ensured all modules worked as expected.</a:t>
            </a:r>
          </a:p>
          <a:p>
            <a:pPr marL="0" indent="0">
              <a:buNone/>
            </a:pPr>
            <a:r>
              <a:rPr lang="en-US" sz="2100" b="1" dirty="0"/>
              <a:t>   2. Model Validation</a:t>
            </a:r>
          </a:p>
          <a:p>
            <a:r>
              <a:rPr lang="en-US" sz="2100" dirty="0"/>
              <a:t>Evaluated the trained model using the testing dataset.</a:t>
            </a:r>
          </a:p>
          <a:p>
            <a:r>
              <a:rPr lang="en-US" sz="2100" dirty="0"/>
              <a:t>Measured the performance using Accuracy, Precision, Recall, and F1-Score.</a:t>
            </a:r>
          </a:p>
          <a:p>
            <a:pPr marL="0" indent="0">
              <a:buNone/>
            </a:pPr>
            <a:r>
              <a:rPr lang="en-US" sz="2100" b="1" dirty="0"/>
              <a:t>   3. Performance Testing</a:t>
            </a:r>
          </a:p>
          <a:p>
            <a:r>
              <a:rPr lang="en-US" sz="2100" dirty="0"/>
              <a:t>Checked the prediction speed and overall classification performance.</a:t>
            </a:r>
          </a:p>
          <a:p>
            <a:r>
              <a:rPr lang="en-US" sz="2100" dirty="0"/>
              <a:t>Verified that the system produced results with good accuracy.</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26534429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BCDC81-D462-0DB6-B70C-2BC2710B5498}"/>
              </a:ext>
            </a:extLst>
          </p:cNvPr>
          <p:cNvSpPr txBox="1"/>
          <p:nvPr/>
        </p:nvSpPr>
        <p:spPr>
          <a:xfrm>
            <a:off x="1302535" y="899258"/>
            <a:ext cx="9904287" cy="461665"/>
          </a:xfrm>
          <a:prstGeom prst="rect">
            <a:avLst/>
          </a:prstGeom>
          <a:noFill/>
        </p:spPr>
        <p:txBody>
          <a:bodyPr wrap="square">
            <a:spAutoFit/>
          </a:bodyPr>
          <a:lstStyle/>
          <a:p>
            <a:r>
              <a:rPr lang="en-US" sz="2400" b="1" dirty="0"/>
              <a:t>Test cases and outcomes:</a:t>
            </a:r>
          </a:p>
        </p:txBody>
      </p:sp>
      <p:graphicFrame>
        <p:nvGraphicFramePr>
          <p:cNvPr id="4" name="Table 3">
            <a:extLst>
              <a:ext uri="{FF2B5EF4-FFF2-40B4-BE49-F238E27FC236}">
                <a16:creationId xmlns:a16="http://schemas.microsoft.com/office/drawing/2014/main" id="{37530DC1-6D13-056F-408A-3091A173AAE7}"/>
              </a:ext>
            </a:extLst>
          </p:cNvPr>
          <p:cNvGraphicFramePr>
            <a:graphicFrameLocks noGrp="1"/>
          </p:cNvGraphicFramePr>
          <p:nvPr>
            <p:extLst>
              <p:ext uri="{D42A27DB-BD31-4B8C-83A1-F6EECF244321}">
                <p14:modId xmlns:p14="http://schemas.microsoft.com/office/powerpoint/2010/main" val="3325267197"/>
              </p:ext>
            </p:extLst>
          </p:nvPr>
        </p:nvGraphicFramePr>
        <p:xfrm>
          <a:off x="1302535" y="1623791"/>
          <a:ext cx="9341490" cy="4787520"/>
        </p:xfrm>
        <a:graphic>
          <a:graphicData uri="http://schemas.openxmlformats.org/drawingml/2006/table">
            <a:tbl>
              <a:tblPr firstRow="1" bandRow="1">
                <a:tableStyleId>{5940675A-B579-460E-94D1-54222C63F5DA}</a:tableStyleId>
              </a:tblPr>
              <a:tblGrid>
                <a:gridCol w="1868298">
                  <a:extLst>
                    <a:ext uri="{9D8B030D-6E8A-4147-A177-3AD203B41FA5}">
                      <a16:colId xmlns:a16="http://schemas.microsoft.com/office/drawing/2014/main" val="1535312191"/>
                    </a:ext>
                  </a:extLst>
                </a:gridCol>
                <a:gridCol w="1868298">
                  <a:extLst>
                    <a:ext uri="{9D8B030D-6E8A-4147-A177-3AD203B41FA5}">
                      <a16:colId xmlns:a16="http://schemas.microsoft.com/office/drawing/2014/main" val="3053730394"/>
                    </a:ext>
                  </a:extLst>
                </a:gridCol>
                <a:gridCol w="1868298">
                  <a:extLst>
                    <a:ext uri="{9D8B030D-6E8A-4147-A177-3AD203B41FA5}">
                      <a16:colId xmlns:a16="http://schemas.microsoft.com/office/drawing/2014/main" val="3075341155"/>
                    </a:ext>
                  </a:extLst>
                </a:gridCol>
                <a:gridCol w="1868298">
                  <a:extLst>
                    <a:ext uri="{9D8B030D-6E8A-4147-A177-3AD203B41FA5}">
                      <a16:colId xmlns:a16="http://schemas.microsoft.com/office/drawing/2014/main" val="971476223"/>
                    </a:ext>
                  </a:extLst>
                </a:gridCol>
                <a:gridCol w="1868298">
                  <a:extLst>
                    <a:ext uri="{9D8B030D-6E8A-4147-A177-3AD203B41FA5}">
                      <a16:colId xmlns:a16="http://schemas.microsoft.com/office/drawing/2014/main" val="301508452"/>
                    </a:ext>
                  </a:extLst>
                </a:gridCol>
              </a:tblGrid>
              <a:tr h="681440">
                <a:tc>
                  <a:txBody>
                    <a:bodyPr/>
                    <a:lstStyle/>
                    <a:p>
                      <a:endParaRPr lang="en-US" b="1" dirty="0"/>
                    </a:p>
                    <a:p>
                      <a:r>
                        <a:rPr lang="en-US" b="1" dirty="0"/>
                        <a:t>Test Case</a:t>
                      </a:r>
                    </a:p>
                  </a:txBody>
                  <a:tcPr/>
                </a:tc>
                <a:tc>
                  <a:txBody>
                    <a:bodyPr/>
                    <a:lstStyle/>
                    <a:p>
                      <a:r>
                        <a:rPr lang="en-US" b="1" dirty="0"/>
                        <a:t> </a:t>
                      </a:r>
                    </a:p>
                    <a:p>
                      <a:r>
                        <a:rPr lang="en-US" b="1" dirty="0"/>
                        <a:t>Input Email</a:t>
                      </a:r>
                    </a:p>
                  </a:txBody>
                  <a:tcPr/>
                </a:tc>
                <a:tc>
                  <a:txBody>
                    <a:bodyPr/>
                    <a:lstStyle/>
                    <a:p>
                      <a:pPr>
                        <a:buNone/>
                      </a:pPr>
                      <a:endParaRPr lang="en-US" b="1" dirty="0"/>
                    </a:p>
                    <a:p>
                      <a:pPr>
                        <a:buNone/>
                      </a:pPr>
                      <a:r>
                        <a:rPr lang="en-US" b="1" dirty="0"/>
                        <a:t>Expected Result</a:t>
                      </a:r>
                    </a:p>
                  </a:txBody>
                  <a:tcPr anchor="ctr"/>
                </a:tc>
                <a:tc>
                  <a:txBody>
                    <a:bodyPr/>
                    <a:lstStyle/>
                    <a:p>
                      <a:endParaRPr lang="en-US" b="1" dirty="0"/>
                    </a:p>
                    <a:p>
                      <a:r>
                        <a:rPr lang="en-US" b="1" dirty="0"/>
                        <a:t>Actual Result</a:t>
                      </a:r>
                    </a:p>
                  </a:txBody>
                  <a:tcPr/>
                </a:tc>
                <a:tc>
                  <a:txBody>
                    <a:bodyPr/>
                    <a:lstStyle/>
                    <a:p>
                      <a:pPr>
                        <a:buNone/>
                      </a:pPr>
                      <a:endParaRPr lang="en-US" b="1" dirty="0"/>
                    </a:p>
                    <a:p>
                      <a:pPr>
                        <a:buNone/>
                      </a:pPr>
                      <a:r>
                        <a:rPr lang="en-US" b="1" dirty="0"/>
                        <a:t>Status</a:t>
                      </a:r>
                    </a:p>
                  </a:txBody>
                  <a:tcPr anchor="ctr"/>
                </a:tc>
                <a:extLst>
                  <a:ext uri="{0D108BD9-81ED-4DB2-BD59-A6C34878D82A}">
                    <a16:rowId xmlns:a16="http://schemas.microsoft.com/office/drawing/2014/main" val="2810383682"/>
                  </a:ext>
                </a:extLst>
              </a:tr>
              <a:tr h="681440">
                <a:tc>
                  <a:txBody>
                    <a:bodyPr/>
                    <a:lstStyle/>
                    <a:p>
                      <a:r>
                        <a:rPr lang="en-US" dirty="0"/>
                        <a:t>TC-01</a:t>
                      </a:r>
                    </a:p>
                  </a:txBody>
                  <a:tcPr/>
                </a:tc>
                <a:tc>
                  <a:txBody>
                    <a:bodyPr/>
                    <a:lstStyle/>
                    <a:p>
                      <a:pPr>
                        <a:buNone/>
                      </a:pPr>
                      <a:r>
                        <a:rPr lang="en-US" dirty="0"/>
                        <a:t>Hello, how are you?</a:t>
                      </a:r>
                    </a:p>
                  </a:txBody>
                  <a:tcPr anchor="ctr"/>
                </a:tc>
                <a:tc>
                  <a:txBody>
                    <a:bodyPr/>
                    <a:lstStyle/>
                    <a:p>
                      <a:r>
                        <a:rPr lang="en-US" dirty="0"/>
                        <a:t>       Ham</a:t>
                      </a:r>
                    </a:p>
                  </a:txBody>
                  <a:tcPr/>
                </a:tc>
                <a:tc>
                  <a:txBody>
                    <a:bodyPr/>
                    <a:lstStyle/>
                    <a:p>
                      <a:r>
                        <a:rPr lang="en-US" dirty="0"/>
                        <a:t>        Ham</a:t>
                      </a:r>
                    </a:p>
                  </a:txBody>
                  <a:tcPr/>
                </a:tc>
                <a:tc>
                  <a:txBody>
                    <a:bodyPr/>
                    <a:lstStyle/>
                    <a:p>
                      <a:pPr>
                        <a:buNone/>
                      </a:pPr>
                      <a:r>
                        <a:rPr lang="en-US" dirty="0"/>
                        <a:t>       Pass</a:t>
                      </a:r>
                    </a:p>
                  </a:txBody>
                  <a:tcPr anchor="ctr"/>
                </a:tc>
                <a:extLst>
                  <a:ext uri="{0D108BD9-81ED-4DB2-BD59-A6C34878D82A}">
                    <a16:rowId xmlns:a16="http://schemas.microsoft.com/office/drawing/2014/main" val="3550212661"/>
                  </a:ext>
                </a:extLst>
              </a:tr>
              <a:tr h="681440">
                <a:tc>
                  <a:txBody>
                    <a:bodyPr/>
                    <a:lstStyle/>
                    <a:p>
                      <a:r>
                        <a:rPr lang="en-US" dirty="0"/>
                        <a:t>TC-02</a:t>
                      </a:r>
                    </a:p>
                  </a:txBody>
                  <a:tcPr/>
                </a:tc>
                <a:tc>
                  <a:txBody>
                    <a:bodyPr/>
                    <a:lstStyle/>
                    <a:p>
                      <a:r>
                        <a:rPr lang="en-US" dirty="0"/>
                        <a:t>Congratulations! You won ₹50,000.</a:t>
                      </a:r>
                    </a:p>
                  </a:txBody>
                  <a:tcPr/>
                </a:tc>
                <a:tc>
                  <a:txBody>
                    <a:bodyPr/>
                    <a:lstStyle/>
                    <a:p>
                      <a:pPr>
                        <a:buNone/>
                      </a:pPr>
                      <a:r>
                        <a:rPr lang="en-US" dirty="0"/>
                        <a:t>      Spam</a:t>
                      </a:r>
                    </a:p>
                  </a:txBody>
                  <a:tcPr anchor="ctr"/>
                </a:tc>
                <a:tc>
                  <a:txBody>
                    <a:bodyPr/>
                    <a:lstStyle/>
                    <a:p>
                      <a:pPr>
                        <a:buNone/>
                      </a:pPr>
                      <a:r>
                        <a:rPr lang="en-US" dirty="0"/>
                        <a:t>        Spam</a:t>
                      </a:r>
                    </a:p>
                  </a:txBody>
                  <a:tcPr anchor="ctr"/>
                </a:tc>
                <a:tc>
                  <a:txBody>
                    <a:bodyPr/>
                    <a:lstStyle/>
                    <a:p>
                      <a:endParaRPr lang="en-US" dirty="0"/>
                    </a:p>
                    <a:p>
                      <a:r>
                        <a:rPr lang="en-US" dirty="0"/>
                        <a:t>       Pass</a:t>
                      </a:r>
                    </a:p>
                  </a:txBody>
                  <a:tcPr/>
                </a:tc>
                <a:extLst>
                  <a:ext uri="{0D108BD9-81ED-4DB2-BD59-A6C34878D82A}">
                    <a16:rowId xmlns:a16="http://schemas.microsoft.com/office/drawing/2014/main" val="3951784812"/>
                  </a:ext>
                </a:extLst>
              </a:tr>
              <a:tr h="681440">
                <a:tc>
                  <a:txBody>
                    <a:bodyPr/>
                    <a:lstStyle/>
                    <a:p>
                      <a:r>
                        <a:rPr lang="en-US" dirty="0"/>
                        <a:t>TC-03</a:t>
                      </a:r>
                    </a:p>
                  </a:txBody>
                  <a:tcPr/>
                </a:tc>
                <a:tc>
                  <a:txBody>
                    <a:bodyPr/>
                    <a:lstStyle/>
                    <a:p>
                      <a:r>
                        <a:rPr lang="en-US" dirty="0"/>
                        <a:t>Please attend today's meeting.</a:t>
                      </a:r>
                    </a:p>
                  </a:txBody>
                  <a:tcPr/>
                </a:tc>
                <a:tc>
                  <a:txBody>
                    <a:bodyPr/>
                    <a:lstStyle/>
                    <a:p>
                      <a:r>
                        <a:rPr lang="en-US" dirty="0"/>
                        <a:t>       Ham</a:t>
                      </a:r>
                    </a:p>
                  </a:txBody>
                  <a:tcPr/>
                </a:tc>
                <a:tc>
                  <a:txBody>
                    <a:bodyPr/>
                    <a:lstStyle/>
                    <a:p>
                      <a:r>
                        <a:rPr lang="en-US" dirty="0"/>
                        <a:t>         Ham</a:t>
                      </a:r>
                    </a:p>
                  </a:txBody>
                  <a:tcPr/>
                </a:tc>
                <a:tc>
                  <a:txBody>
                    <a:bodyPr/>
                    <a:lstStyle/>
                    <a:p>
                      <a:r>
                        <a:rPr lang="en-US" dirty="0"/>
                        <a:t>       Pass</a:t>
                      </a:r>
                    </a:p>
                  </a:txBody>
                  <a:tcPr/>
                </a:tc>
                <a:extLst>
                  <a:ext uri="{0D108BD9-81ED-4DB2-BD59-A6C34878D82A}">
                    <a16:rowId xmlns:a16="http://schemas.microsoft.com/office/drawing/2014/main" val="1754237126"/>
                  </a:ext>
                </a:extLst>
              </a:tr>
              <a:tr h="681440">
                <a:tc>
                  <a:txBody>
                    <a:bodyPr/>
                    <a:lstStyle/>
                    <a:p>
                      <a:r>
                        <a:rPr lang="en-US" dirty="0"/>
                        <a:t>TC-04</a:t>
                      </a:r>
                    </a:p>
                  </a:txBody>
                  <a:tcPr/>
                </a:tc>
                <a:tc>
                  <a:txBody>
                    <a:bodyPr/>
                    <a:lstStyle/>
                    <a:p>
                      <a:r>
                        <a:rPr lang="en-US" dirty="0"/>
                        <a:t>Claim your free recharge now.</a:t>
                      </a:r>
                    </a:p>
                  </a:txBody>
                  <a:tcPr/>
                </a:tc>
                <a:tc>
                  <a:txBody>
                    <a:bodyPr/>
                    <a:lstStyle/>
                    <a:p>
                      <a:r>
                        <a:rPr lang="en-US" dirty="0"/>
                        <a:t>      Spam</a:t>
                      </a:r>
                    </a:p>
                  </a:txBody>
                  <a:tcPr/>
                </a:tc>
                <a:tc>
                  <a:txBody>
                    <a:bodyPr/>
                    <a:lstStyle/>
                    <a:p>
                      <a:r>
                        <a:rPr lang="en-US" dirty="0"/>
                        <a:t>        Spam</a:t>
                      </a:r>
                    </a:p>
                  </a:txBody>
                  <a:tcPr/>
                </a:tc>
                <a:tc>
                  <a:txBody>
                    <a:bodyPr/>
                    <a:lstStyle/>
                    <a:p>
                      <a:r>
                        <a:rPr lang="en-US" dirty="0"/>
                        <a:t>       Pass</a:t>
                      </a:r>
                    </a:p>
                  </a:txBody>
                  <a:tcPr/>
                </a:tc>
                <a:extLst>
                  <a:ext uri="{0D108BD9-81ED-4DB2-BD59-A6C34878D82A}">
                    <a16:rowId xmlns:a16="http://schemas.microsoft.com/office/drawing/2014/main" val="957980947"/>
                  </a:ext>
                </a:extLst>
              </a:tr>
              <a:tr h="681440">
                <a:tc>
                  <a:txBody>
                    <a:bodyPr/>
                    <a:lstStyle/>
                    <a:p>
                      <a:r>
                        <a:rPr lang="en-US" dirty="0"/>
                        <a:t>TC-05</a:t>
                      </a:r>
                    </a:p>
                  </a:txBody>
                  <a:tcPr/>
                </a:tc>
                <a:tc>
                  <a:txBody>
                    <a:bodyPr/>
                    <a:lstStyle/>
                    <a:p>
                      <a:r>
                        <a:rPr lang="en-US" dirty="0"/>
                        <a:t>Exclusive discount! Buy now.</a:t>
                      </a:r>
                    </a:p>
                  </a:txBody>
                  <a:tcPr/>
                </a:tc>
                <a:tc>
                  <a:txBody>
                    <a:bodyPr/>
                    <a:lstStyle/>
                    <a:p>
                      <a:r>
                        <a:rPr lang="en-US" dirty="0"/>
                        <a:t>        Spam</a:t>
                      </a:r>
                    </a:p>
                  </a:txBody>
                  <a:tcPr/>
                </a:tc>
                <a:tc>
                  <a:txBody>
                    <a:bodyPr/>
                    <a:lstStyle/>
                    <a:p>
                      <a:r>
                        <a:rPr lang="en-US" dirty="0"/>
                        <a:t>       Spam</a:t>
                      </a:r>
                    </a:p>
                  </a:txBody>
                  <a:tcPr/>
                </a:tc>
                <a:tc>
                  <a:txBody>
                    <a:bodyPr/>
                    <a:lstStyle/>
                    <a:p>
                      <a:r>
                        <a:rPr lang="en-US" dirty="0"/>
                        <a:t>       Pass</a:t>
                      </a:r>
                    </a:p>
                  </a:txBody>
                  <a:tcPr/>
                </a:tc>
                <a:extLst>
                  <a:ext uri="{0D108BD9-81ED-4DB2-BD59-A6C34878D82A}">
                    <a16:rowId xmlns:a16="http://schemas.microsoft.com/office/drawing/2014/main" val="1415489852"/>
                  </a:ext>
                </a:extLst>
              </a:tr>
            </a:tbl>
          </a:graphicData>
        </a:graphic>
      </p:graphicFrame>
    </p:spTree>
    <p:extLst>
      <p:ext uri="{BB962C8B-B14F-4D97-AF65-F5344CB8AC3E}">
        <p14:creationId xmlns:p14="http://schemas.microsoft.com/office/powerpoint/2010/main" val="30471493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00B2528D-457E-836C-27E8-B0D97C6984CB}"/>
              </a:ext>
            </a:extLst>
          </p:cNvPr>
          <p:cNvGraphicFramePr>
            <a:graphicFrameLocks noGrp="1"/>
          </p:cNvGraphicFramePr>
          <p:nvPr>
            <p:extLst>
              <p:ext uri="{D42A27DB-BD31-4B8C-83A1-F6EECF244321}">
                <p14:modId xmlns:p14="http://schemas.microsoft.com/office/powerpoint/2010/main" val="2284777594"/>
              </p:ext>
            </p:extLst>
          </p:nvPr>
        </p:nvGraphicFramePr>
        <p:xfrm>
          <a:off x="2032000" y="1438382"/>
          <a:ext cx="8128000" cy="3453656"/>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4218987302"/>
                    </a:ext>
                  </a:extLst>
                </a:gridCol>
                <a:gridCol w="4064000">
                  <a:extLst>
                    <a:ext uri="{9D8B030D-6E8A-4147-A177-3AD203B41FA5}">
                      <a16:colId xmlns:a16="http://schemas.microsoft.com/office/drawing/2014/main" val="3592768403"/>
                    </a:ext>
                  </a:extLst>
                </a:gridCol>
              </a:tblGrid>
              <a:tr h="431707">
                <a:tc>
                  <a:txBody>
                    <a:bodyPr/>
                    <a:lstStyle/>
                    <a:p>
                      <a:r>
                        <a:rPr lang="en-US" b="1" dirty="0"/>
                        <a:t>           Validation Parameter</a:t>
                      </a:r>
                    </a:p>
                  </a:txBody>
                  <a:tcPr/>
                </a:tc>
                <a:tc>
                  <a:txBody>
                    <a:bodyPr/>
                    <a:lstStyle/>
                    <a:p>
                      <a:r>
                        <a:rPr lang="en-US" b="1" dirty="0"/>
                        <a:t>                    Result</a:t>
                      </a:r>
                    </a:p>
                  </a:txBody>
                  <a:tcPr/>
                </a:tc>
                <a:extLst>
                  <a:ext uri="{0D108BD9-81ED-4DB2-BD59-A6C34878D82A}">
                    <a16:rowId xmlns:a16="http://schemas.microsoft.com/office/drawing/2014/main" val="191371471"/>
                  </a:ext>
                </a:extLst>
              </a:tr>
              <a:tr h="431707">
                <a:tc>
                  <a:txBody>
                    <a:bodyPr/>
                    <a:lstStyle/>
                    <a:p>
                      <a:r>
                        <a:rPr lang="en-US" dirty="0"/>
                        <a:t>            Total Test Emails</a:t>
                      </a:r>
                    </a:p>
                  </a:txBody>
                  <a:tcPr/>
                </a:tc>
                <a:tc>
                  <a:txBody>
                    <a:bodyPr/>
                    <a:lstStyle/>
                    <a:p>
                      <a:r>
                        <a:rPr lang="en-US" dirty="0"/>
                        <a:t>                      10</a:t>
                      </a:r>
                    </a:p>
                  </a:txBody>
                  <a:tcPr/>
                </a:tc>
                <a:extLst>
                  <a:ext uri="{0D108BD9-81ED-4DB2-BD59-A6C34878D82A}">
                    <a16:rowId xmlns:a16="http://schemas.microsoft.com/office/drawing/2014/main" val="3958362540"/>
                  </a:ext>
                </a:extLst>
              </a:tr>
              <a:tr h="431707">
                <a:tc>
                  <a:txBody>
                    <a:bodyPr/>
                    <a:lstStyle/>
                    <a:p>
                      <a:r>
                        <a:rPr lang="en-US" dirty="0"/>
                        <a:t>             Correct Predictions</a:t>
                      </a:r>
                    </a:p>
                  </a:txBody>
                  <a:tcPr/>
                </a:tc>
                <a:tc>
                  <a:txBody>
                    <a:bodyPr/>
                    <a:lstStyle/>
                    <a:p>
                      <a:r>
                        <a:rPr lang="en-US" dirty="0"/>
                        <a:t>                        9</a:t>
                      </a:r>
                    </a:p>
                  </a:txBody>
                  <a:tcPr/>
                </a:tc>
                <a:extLst>
                  <a:ext uri="{0D108BD9-81ED-4DB2-BD59-A6C34878D82A}">
                    <a16:rowId xmlns:a16="http://schemas.microsoft.com/office/drawing/2014/main" val="1280068975"/>
                  </a:ext>
                </a:extLst>
              </a:tr>
              <a:tr h="431707">
                <a:tc>
                  <a:txBody>
                    <a:bodyPr/>
                    <a:lstStyle/>
                    <a:p>
                      <a:r>
                        <a:rPr lang="en-US" dirty="0"/>
                        <a:t>              Incorrect Predictions</a:t>
                      </a:r>
                    </a:p>
                  </a:txBody>
                  <a:tcPr/>
                </a:tc>
                <a:tc>
                  <a:txBody>
                    <a:bodyPr/>
                    <a:lstStyle/>
                    <a:p>
                      <a:r>
                        <a:rPr lang="en-US" dirty="0"/>
                        <a:t>                       1</a:t>
                      </a:r>
                    </a:p>
                  </a:txBody>
                  <a:tcPr/>
                </a:tc>
                <a:extLst>
                  <a:ext uri="{0D108BD9-81ED-4DB2-BD59-A6C34878D82A}">
                    <a16:rowId xmlns:a16="http://schemas.microsoft.com/office/drawing/2014/main" val="412890580"/>
                  </a:ext>
                </a:extLst>
              </a:tr>
              <a:tr h="431707">
                <a:tc>
                  <a:txBody>
                    <a:bodyPr/>
                    <a:lstStyle/>
                    <a:p>
                      <a:r>
                        <a:rPr lang="en-US" dirty="0"/>
                        <a:t>               Accuracy</a:t>
                      </a:r>
                    </a:p>
                  </a:txBody>
                  <a:tcPr/>
                </a:tc>
                <a:tc>
                  <a:txBody>
                    <a:bodyPr/>
                    <a:lstStyle/>
                    <a:p>
                      <a:r>
                        <a:rPr lang="en-US" dirty="0"/>
                        <a:t>                      90%</a:t>
                      </a:r>
                    </a:p>
                  </a:txBody>
                  <a:tcPr/>
                </a:tc>
                <a:extLst>
                  <a:ext uri="{0D108BD9-81ED-4DB2-BD59-A6C34878D82A}">
                    <a16:rowId xmlns:a16="http://schemas.microsoft.com/office/drawing/2014/main" val="2210215463"/>
                  </a:ext>
                </a:extLst>
              </a:tr>
              <a:tr h="431707">
                <a:tc>
                  <a:txBody>
                    <a:bodyPr/>
                    <a:lstStyle/>
                    <a:p>
                      <a:r>
                        <a:rPr lang="en-US" dirty="0"/>
                        <a:t>                Precision</a:t>
                      </a:r>
                    </a:p>
                  </a:txBody>
                  <a:tcPr/>
                </a:tc>
                <a:tc>
                  <a:txBody>
                    <a:bodyPr/>
                    <a:lstStyle/>
                    <a:p>
                      <a:r>
                        <a:rPr lang="en-US" dirty="0"/>
                        <a:t>                     100%</a:t>
                      </a:r>
                    </a:p>
                  </a:txBody>
                  <a:tcPr/>
                </a:tc>
                <a:extLst>
                  <a:ext uri="{0D108BD9-81ED-4DB2-BD59-A6C34878D82A}">
                    <a16:rowId xmlns:a16="http://schemas.microsoft.com/office/drawing/2014/main" val="1171071681"/>
                  </a:ext>
                </a:extLst>
              </a:tr>
              <a:tr h="431707">
                <a:tc>
                  <a:txBody>
                    <a:bodyPr/>
                    <a:lstStyle/>
                    <a:p>
                      <a:r>
                        <a:rPr lang="en-US" dirty="0"/>
                        <a:t>                Recall</a:t>
                      </a:r>
                    </a:p>
                  </a:txBody>
                  <a:tcPr/>
                </a:tc>
                <a:tc>
                  <a:txBody>
                    <a:bodyPr/>
                    <a:lstStyle/>
                    <a:p>
                      <a:r>
                        <a:rPr lang="en-US" dirty="0"/>
                        <a:t>                      83%</a:t>
                      </a:r>
                    </a:p>
                  </a:txBody>
                  <a:tcPr/>
                </a:tc>
                <a:extLst>
                  <a:ext uri="{0D108BD9-81ED-4DB2-BD59-A6C34878D82A}">
                    <a16:rowId xmlns:a16="http://schemas.microsoft.com/office/drawing/2014/main" val="4284405360"/>
                  </a:ext>
                </a:extLst>
              </a:tr>
              <a:tr h="431707">
                <a:tc>
                  <a:txBody>
                    <a:bodyPr/>
                    <a:lstStyle/>
                    <a:p>
                      <a:r>
                        <a:rPr lang="en-US" dirty="0"/>
                        <a:t>               F1-Score</a:t>
                      </a:r>
                    </a:p>
                  </a:txBody>
                  <a:tcPr/>
                </a:tc>
                <a:tc>
                  <a:txBody>
                    <a:bodyPr/>
                    <a:lstStyle/>
                    <a:p>
                      <a:r>
                        <a:rPr lang="en-US" dirty="0"/>
                        <a:t>                      91%</a:t>
                      </a:r>
                    </a:p>
                  </a:txBody>
                  <a:tcPr/>
                </a:tc>
                <a:extLst>
                  <a:ext uri="{0D108BD9-81ED-4DB2-BD59-A6C34878D82A}">
                    <a16:rowId xmlns:a16="http://schemas.microsoft.com/office/drawing/2014/main" val="2581746348"/>
                  </a:ext>
                </a:extLst>
              </a:tr>
            </a:tbl>
          </a:graphicData>
        </a:graphic>
      </p:graphicFrame>
      <p:sp>
        <p:nvSpPr>
          <p:cNvPr id="4" name="TextBox 3">
            <a:extLst>
              <a:ext uri="{FF2B5EF4-FFF2-40B4-BE49-F238E27FC236}">
                <a16:creationId xmlns:a16="http://schemas.microsoft.com/office/drawing/2014/main" id="{E6A1FA3D-DE6D-219C-F693-F0CE4A97934C}"/>
              </a:ext>
            </a:extLst>
          </p:cNvPr>
          <p:cNvSpPr txBox="1"/>
          <p:nvPr/>
        </p:nvSpPr>
        <p:spPr>
          <a:xfrm>
            <a:off x="2032000" y="853023"/>
            <a:ext cx="6097712" cy="461665"/>
          </a:xfrm>
          <a:prstGeom prst="rect">
            <a:avLst/>
          </a:prstGeom>
          <a:noFill/>
        </p:spPr>
        <p:txBody>
          <a:bodyPr wrap="square">
            <a:spAutoFit/>
          </a:bodyPr>
          <a:lstStyle/>
          <a:p>
            <a:r>
              <a:rPr lang="en-US" sz="2400" b="1" dirty="0"/>
              <a:t>Validation Summary:</a:t>
            </a:r>
          </a:p>
        </p:txBody>
      </p:sp>
    </p:spTree>
    <p:extLst>
      <p:ext uri="{BB962C8B-B14F-4D97-AF65-F5344CB8AC3E}">
        <p14:creationId xmlns:p14="http://schemas.microsoft.com/office/powerpoint/2010/main" val="1913868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C7E16-2757-A296-F309-9E78C21EC0F6}"/>
              </a:ext>
            </a:extLst>
          </p:cNvPr>
          <p:cNvSpPr>
            <a:spLocks noGrp="1"/>
          </p:cNvSpPr>
          <p:nvPr>
            <p:ph type="title"/>
          </p:nvPr>
        </p:nvSpPr>
        <p:spPr/>
        <p:txBody>
          <a:bodyPr/>
          <a:lstStyle/>
          <a:p>
            <a:r>
              <a:rPr lang="en-US" b="1" dirty="0"/>
              <a:t>Conclusion and Future enhancements</a:t>
            </a:r>
            <a:br>
              <a:rPr lang="en-US" b="1" dirty="0"/>
            </a:br>
            <a:endParaRPr lang="en-IN" dirty="0"/>
          </a:p>
        </p:txBody>
      </p:sp>
      <p:sp>
        <p:nvSpPr>
          <p:cNvPr id="3" name="Content Placeholder 2">
            <a:extLst>
              <a:ext uri="{FF2B5EF4-FFF2-40B4-BE49-F238E27FC236}">
                <a16:creationId xmlns:a16="http://schemas.microsoft.com/office/drawing/2014/main" id="{D89388FA-C02B-A761-959B-F50D46F3D3E2}"/>
              </a:ext>
            </a:extLst>
          </p:cNvPr>
          <p:cNvSpPr>
            <a:spLocks noGrp="1"/>
          </p:cNvSpPr>
          <p:nvPr>
            <p:ph idx="1"/>
          </p:nvPr>
        </p:nvSpPr>
        <p:spPr>
          <a:xfrm>
            <a:off x="714910" y="1017632"/>
            <a:ext cx="9985748" cy="5742398"/>
          </a:xfrm>
        </p:spPr>
        <p:txBody>
          <a:bodyPr>
            <a:normAutofit fontScale="25000" lnSpcReduction="20000"/>
          </a:bodyPr>
          <a:lstStyle/>
          <a:p>
            <a:pPr marL="0" indent="0">
              <a:buNone/>
            </a:pPr>
            <a:r>
              <a:rPr lang="en-US" sz="9600" b="1" dirty="0"/>
              <a:t>   Conclusion:</a:t>
            </a:r>
          </a:p>
          <a:p>
            <a:r>
              <a:rPr lang="en-US" sz="6400" b="1" dirty="0"/>
              <a:t>Summary of Work Done</a:t>
            </a:r>
          </a:p>
          <a:p>
            <a:r>
              <a:rPr lang="en-US" sz="6400" dirty="0"/>
              <a:t>Developed an </a:t>
            </a:r>
            <a:r>
              <a:rPr lang="en-US" sz="6400" b="1" dirty="0"/>
              <a:t>Email Spam Detection System</a:t>
            </a:r>
            <a:r>
              <a:rPr lang="en-US" sz="6400" dirty="0"/>
              <a:t> using Machine Learning.</a:t>
            </a:r>
          </a:p>
          <a:p>
            <a:r>
              <a:rPr lang="en-US" sz="6400" dirty="0"/>
              <a:t>Performed data preprocessing to clean and prepare email text.</a:t>
            </a:r>
          </a:p>
          <a:p>
            <a:r>
              <a:rPr lang="en-US" sz="6400" dirty="0"/>
              <a:t>Used the </a:t>
            </a:r>
            <a:r>
              <a:rPr lang="en-US" sz="6400" b="1" dirty="0"/>
              <a:t>TF-IDF</a:t>
            </a:r>
            <a:r>
              <a:rPr lang="en-US" sz="6400" dirty="0"/>
              <a:t> technique for feature extraction.</a:t>
            </a:r>
          </a:p>
          <a:p>
            <a:r>
              <a:rPr lang="en-US" sz="6400" dirty="0"/>
              <a:t>Trained and tested the </a:t>
            </a:r>
            <a:r>
              <a:rPr lang="en-US" sz="6400" b="1" dirty="0"/>
              <a:t>Multinomial Naive Bayes</a:t>
            </a:r>
            <a:r>
              <a:rPr lang="en-US" sz="6400" dirty="0"/>
              <a:t> classifier to classify emails as Spam or Ham.</a:t>
            </a:r>
          </a:p>
          <a:p>
            <a:r>
              <a:rPr lang="en-US" sz="6400" dirty="0"/>
              <a:t>Evaluated the model using Accuracy, Precision, Recall, and F1-Score.</a:t>
            </a:r>
          </a:p>
          <a:p>
            <a:pPr marL="0" indent="0">
              <a:buNone/>
            </a:pPr>
            <a:r>
              <a:rPr lang="en-US" sz="6400" b="1" dirty="0"/>
              <a:t>      Achievement of Objectives</a:t>
            </a:r>
          </a:p>
          <a:p>
            <a:r>
              <a:rPr lang="en-US" sz="6400" dirty="0"/>
              <a:t>Successfully developed an automatic email classification system.</a:t>
            </a:r>
          </a:p>
          <a:p>
            <a:r>
              <a:rPr lang="en-US" sz="6400" dirty="0"/>
              <a:t>Reduced the need for manual email filtering.</a:t>
            </a:r>
          </a:p>
          <a:p>
            <a:r>
              <a:rPr lang="en-US" sz="6400" dirty="0"/>
              <a:t>Achieved approximately </a:t>
            </a:r>
            <a:r>
              <a:rPr lang="en-US" sz="6400" b="1" dirty="0"/>
              <a:t>90% accuracy</a:t>
            </a:r>
            <a:r>
              <a:rPr lang="en-US" sz="6400" dirty="0"/>
              <a:t> in spam detection.</a:t>
            </a:r>
          </a:p>
          <a:p>
            <a:r>
              <a:rPr lang="en-US" sz="6400" dirty="0"/>
              <a:t>Built a fast, simple, and reliable model for text classification.</a:t>
            </a:r>
          </a:p>
          <a:p>
            <a:r>
              <a:rPr lang="en-US" sz="6400" dirty="0"/>
              <a:t>Successfully met the objectives defined at the beginning of the project.</a:t>
            </a:r>
          </a:p>
          <a:p>
            <a:pPr marL="0" indent="0">
              <a:buNone/>
            </a:pPr>
            <a:r>
              <a:rPr lang="en-US" sz="6400" b="1" dirty="0"/>
              <a:t>     Future Enhancements</a:t>
            </a:r>
          </a:p>
          <a:p>
            <a:r>
              <a:rPr lang="en-US" sz="6400" dirty="0"/>
              <a:t>Integrate the system with email services such as </a:t>
            </a:r>
            <a:r>
              <a:rPr lang="en-US" sz="6400" b="1" dirty="0"/>
              <a:t>Gmail</a:t>
            </a:r>
            <a:r>
              <a:rPr lang="en-US" sz="6400" dirty="0"/>
              <a:t> and </a:t>
            </a:r>
            <a:r>
              <a:rPr lang="en-US" sz="6400" b="1" dirty="0"/>
              <a:t>Outlook</a:t>
            </a:r>
            <a:r>
              <a:rPr lang="en-US" sz="6400" dirty="0"/>
              <a:t>.</a:t>
            </a:r>
          </a:p>
          <a:p>
            <a:r>
              <a:rPr lang="en-US" sz="6400" dirty="0"/>
              <a:t>Support multiple languages for spam detection.</a:t>
            </a:r>
          </a:p>
          <a:p>
            <a:r>
              <a:rPr lang="en-US" sz="6400" dirty="0"/>
              <a:t>Detect image-based and attachment-based spam emails.</a:t>
            </a:r>
          </a:p>
          <a:p>
            <a:r>
              <a:rPr lang="en-US" sz="6400" dirty="0"/>
              <a:t>Use Deep Learning models such as </a:t>
            </a:r>
            <a:r>
              <a:rPr lang="en-US" sz="6400" b="1" dirty="0"/>
              <a:t>LSTM</a:t>
            </a:r>
            <a:r>
              <a:rPr lang="en-US" sz="6400" dirty="0"/>
              <a:t> or </a:t>
            </a:r>
            <a:r>
              <a:rPr lang="en-US" sz="6400" b="1" dirty="0"/>
              <a:t>BERT</a:t>
            </a:r>
            <a:r>
              <a:rPr lang="en-US" sz="6400" dirty="0"/>
              <a:t> to improve classification accuracy.</a:t>
            </a:r>
          </a:p>
          <a:p>
            <a:r>
              <a:rPr lang="en-US" sz="6400" dirty="0"/>
              <a:t>Develop a web or mobile application for real-time spam detection.</a:t>
            </a:r>
          </a:p>
          <a:p>
            <a:endParaRPr lang="en-IN" dirty="0"/>
          </a:p>
        </p:txBody>
      </p:sp>
    </p:spTree>
    <p:extLst>
      <p:ext uri="{BB962C8B-B14F-4D97-AF65-F5344CB8AC3E}">
        <p14:creationId xmlns:p14="http://schemas.microsoft.com/office/powerpoint/2010/main" val="29623093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544FE-3490-894C-BA34-BEE92A63CA8F}"/>
              </a:ext>
            </a:extLst>
          </p:cNvPr>
          <p:cNvSpPr>
            <a:spLocks noGrp="1"/>
          </p:cNvSpPr>
          <p:nvPr>
            <p:ph type="title"/>
          </p:nvPr>
        </p:nvSpPr>
        <p:spPr/>
        <p:txBody>
          <a:bodyPr/>
          <a:lstStyle/>
          <a:p>
            <a:r>
              <a:rPr lang="en-US" b="1" dirty="0"/>
              <a:t>References</a:t>
            </a:r>
            <a:br>
              <a:rPr lang="en-US" b="1" dirty="0"/>
            </a:br>
            <a:endParaRPr lang="en-IN" dirty="0"/>
          </a:p>
        </p:txBody>
      </p:sp>
      <p:sp>
        <p:nvSpPr>
          <p:cNvPr id="3" name="Content Placeholder 2">
            <a:extLst>
              <a:ext uri="{FF2B5EF4-FFF2-40B4-BE49-F238E27FC236}">
                <a16:creationId xmlns:a16="http://schemas.microsoft.com/office/drawing/2014/main" id="{15F75A6A-6123-198A-DF9B-6F187BB58D7A}"/>
              </a:ext>
            </a:extLst>
          </p:cNvPr>
          <p:cNvSpPr>
            <a:spLocks noGrp="1"/>
          </p:cNvSpPr>
          <p:nvPr>
            <p:ph idx="1"/>
          </p:nvPr>
        </p:nvSpPr>
        <p:spPr>
          <a:xfrm>
            <a:off x="838200" y="1404257"/>
            <a:ext cx="10515600" cy="4772706"/>
          </a:xfrm>
        </p:spPr>
        <p:txBody>
          <a:bodyPr>
            <a:normAutofit lnSpcReduction="10000"/>
          </a:bodyPr>
          <a:lstStyle/>
          <a:p>
            <a:pPr marL="0" indent="0">
              <a:buNone/>
            </a:pPr>
            <a:r>
              <a:rPr lang="en-US" sz="2200" b="1" dirty="0"/>
              <a:t>Research Papers</a:t>
            </a:r>
          </a:p>
          <a:p>
            <a:r>
              <a:rPr lang="en-US" sz="2200" dirty="0"/>
              <a:t>[1] I. </a:t>
            </a:r>
            <a:r>
              <a:rPr lang="en-US" sz="2200" dirty="0" err="1"/>
              <a:t>Androutsopoulos</a:t>
            </a:r>
            <a:r>
              <a:rPr lang="en-US" sz="2200" dirty="0"/>
              <a:t>, J. </a:t>
            </a:r>
            <a:r>
              <a:rPr lang="en-US" sz="2200" dirty="0" err="1"/>
              <a:t>Koutsias</a:t>
            </a:r>
            <a:r>
              <a:rPr lang="en-US" sz="2200" dirty="0"/>
              <a:t>, K. V. </a:t>
            </a:r>
            <a:r>
              <a:rPr lang="en-US" sz="2200" dirty="0" err="1"/>
              <a:t>Chandrinos</a:t>
            </a:r>
            <a:r>
              <a:rPr lang="en-US" sz="2200" dirty="0"/>
              <a:t>, G. </a:t>
            </a:r>
            <a:r>
              <a:rPr lang="en-US" sz="2200" dirty="0" err="1"/>
              <a:t>Paliouras</a:t>
            </a:r>
            <a:r>
              <a:rPr lang="en-US" sz="2200" dirty="0"/>
              <a:t>, and C. D. Spyropoulos, "An Evaluation of Naive Bayesian Anti-Spam Filtering," </a:t>
            </a:r>
            <a:r>
              <a:rPr lang="en-US" sz="2200" i="1" dirty="0"/>
              <a:t>Proceedings of the Workshop on Machine Learning in the New Information Age</a:t>
            </a:r>
            <a:r>
              <a:rPr lang="en-US" sz="2200" dirty="0"/>
              <a:t>, 2000.</a:t>
            </a:r>
          </a:p>
          <a:p>
            <a:r>
              <a:rPr lang="en-US" sz="2200" dirty="0"/>
              <a:t>[2] F. Pedregosa </a:t>
            </a:r>
            <a:r>
              <a:rPr lang="en-US" sz="2200" i="1" dirty="0"/>
              <a:t>et al</a:t>
            </a:r>
            <a:r>
              <a:rPr lang="en-US" sz="2200" dirty="0"/>
              <a:t>., "Scikit-learn: Machine Learning in Python," </a:t>
            </a:r>
            <a:r>
              <a:rPr lang="en-US" sz="2200" i="1" dirty="0"/>
              <a:t>Journal of Machine Learning Research</a:t>
            </a:r>
            <a:r>
              <a:rPr lang="en-US" sz="2200" dirty="0"/>
              <a:t>, vol. 12, pp. 2825–2830, 2011.</a:t>
            </a:r>
          </a:p>
          <a:p>
            <a:r>
              <a:rPr lang="en-US" sz="2200" b="1" dirty="0"/>
              <a:t>Books</a:t>
            </a:r>
          </a:p>
          <a:p>
            <a:r>
              <a:rPr lang="en-US" sz="2200" dirty="0"/>
              <a:t>[3] S. Bird, E. Klein, and E. Loper, </a:t>
            </a:r>
            <a:r>
              <a:rPr lang="en-US" sz="2200" i="1" dirty="0"/>
              <a:t>Natural Language Processing with Python</a:t>
            </a:r>
            <a:r>
              <a:rPr lang="en-US" sz="2200" dirty="0"/>
              <a:t>. Sebastopol, CA, USA: O'Reilly Media, 2009.</a:t>
            </a:r>
          </a:p>
          <a:p>
            <a:r>
              <a:rPr lang="en-US" sz="2200" dirty="0"/>
              <a:t>[4] T. Hastie, R. </a:t>
            </a:r>
            <a:r>
              <a:rPr lang="en-US" sz="2200" dirty="0" err="1"/>
              <a:t>Tibshirani</a:t>
            </a:r>
            <a:r>
              <a:rPr lang="en-US" sz="2200" dirty="0"/>
              <a:t>, and J. Friedman, </a:t>
            </a:r>
            <a:r>
              <a:rPr lang="en-US" sz="2200" i="1" dirty="0"/>
              <a:t>The Elements </a:t>
            </a:r>
            <a:r>
              <a:rPr lang="en-US" sz="2000" i="1" dirty="0"/>
              <a:t>of Statistical Learning</a:t>
            </a:r>
            <a:r>
              <a:rPr lang="en-US" sz="2000" dirty="0"/>
              <a:t>, 2nd ed. New York, NY, USA: Springer, 2009</a:t>
            </a:r>
          </a:p>
          <a:p>
            <a:r>
              <a:rPr lang="en-US" sz="2200" b="1" dirty="0"/>
              <a:t>Websites</a:t>
            </a:r>
          </a:p>
          <a:p>
            <a:r>
              <a:rPr lang="en-US" sz="2000" dirty="0"/>
              <a:t>[5] Google, "Google </a:t>
            </a:r>
            <a:r>
              <a:rPr lang="en-US" sz="2000" dirty="0" err="1"/>
              <a:t>Colaboratory</a:t>
            </a:r>
            <a:r>
              <a:rPr lang="en-US" sz="2000" dirty="0"/>
              <a:t> Documentation." Available: </a:t>
            </a:r>
            <a:r>
              <a:rPr lang="en-US" sz="2000" dirty="0">
                <a:hlinkClick r:id="rId2"/>
              </a:rPr>
              <a:t>https://colab.research.google.com/</a:t>
            </a:r>
            <a:endParaRPr lang="en-US" sz="2000" dirty="0"/>
          </a:p>
          <a:p>
            <a:endParaRPr lang="en-IN" dirty="0"/>
          </a:p>
        </p:txBody>
      </p:sp>
    </p:spTree>
    <p:extLst>
      <p:ext uri="{BB962C8B-B14F-4D97-AF65-F5344CB8AC3E}">
        <p14:creationId xmlns:p14="http://schemas.microsoft.com/office/powerpoint/2010/main" val="23529611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73;p45">
            <a:extLst>
              <a:ext uri="{FF2B5EF4-FFF2-40B4-BE49-F238E27FC236}">
                <a16:creationId xmlns:a16="http://schemas.microsoft.com/office/drawing/2014/main" id="{F119F7B5-8996-74D0-D675-B3E830E55507}"/>
              </a:ext>
            </a:extLst>
          </p:cNvPr>
          <p:cNvSpPr/>
          <p:nvPr/>
        </p:nvSpPr>
        <p:spPr>
          <a:xfrm>
            <a:off x="0" y="0"/>
            <a:ext cx="12192000" cy="68580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 name="Google Shape;275;p45">
            <a:extLst>
              <a:ext uri="{FF2B5EF4-FFF2-40B4-BE49-F238E27FC236}">
                <a16:creationId xmlns:a16="http://schemas.microsoft.com/office/drawing/2014/main" id="{288AC0D7-D3B1-C33A-F770-AD6D41F3C5EA}"/>
              </a:ext>
            </a:extLst>
          </p:cNvPr>
          <p:cNvSpPr txBox="1"/>
          <p:nvPr/>
        </p:nvSpPr>
        <p:spPr>
          <a:xfrm>
            <a:off x="2174226" y="2437949"/>
            <a:ext cx="7843548" cy="1958038"/>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2000" b="1" dirty="0">
                <a:solidFill>
                  <a:schemeClr val="lt1"/>
                </a:solidFill>
                <a:latin typeface="Calibri"/>
                <a:ea typeface="Calibri"/>
                <a:cs typeface="Calibri"/>
                <a:sym typeface="Calibri"/>
              </a:rPr>
              <a:t>THANK YOU</a:t>
            </a:r>
          </a:p>
        </p:txBody>
      </p:sp>
      <p:sp>
        <p:nvSpPr>
          <p:cNvPr id="6" name="Google Shape;256;p43">
            <a:extLst>
              <a:ext uri="{FF2B5EF4-FFF2-40B4-BE49-F238E27FC236}">
                <a16:creationId xmlns:a16="http://schemas.microsoft.com/office/drawing/2014/main" id="{98AF74DC-B04C-13C6-06C9-9F38C088055B}"/>
              </a:ext>
            </a:extLst>
          </p:cNvPr>
          <p:cNvSpPr txBox="1"/>
          <p:nvPr/>
        </p:nvSpPr>
        <p:spPr>
          <a:xfrm>
            <a:off x="4632900" y="4242087"/>
            <a:ext cx="2926200" cy="40006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000" b="0" i="0" u="none" strike="noStrike" cap="none" dirty="0">
                <a:solidFill>
                  <a:schemeClr val="lt1"/>
                </a:solidFill>
                <a:latin typeface="Arial"/>
                <a:ea typeface="Arial"/>
                <a:cs typeface="Arial"/>
                <a:sym typeface="Arial"/>
              </a:rPr>
              <a:t>onlineamrita.com</a:t>
            </a:r>
          </a:p>
        </p:txBody>
      </p:sp>
    </p:spTree>
    <p:extLst>
      <p:ext uri="{BB962C8B-B14F-4D97-AF65-F5344CB8AC3E}">
        <p14:creationId xmlns:p14="http://schemas.microsoft.com/office/powerpoint/2010/main" val="38987481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2612</TotalTime>
  <Words>2644</Words>
  <Application>Microsoft Office PowerPoint</Application>
  <PresentationFormat>Widescreen</PresentationFormat>
  <Paragraphs>427</Paragraphs>
  <Slides>30</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30</vt:i4>
      </vt:variant>
    </vt:vector>
  </HeadingPairs>
  <TitlesOfParts>
    <vt:vector size="40" baseType="lpstr">
      <vt:lpstr>Aptos</vt:lpstr>
      <vt:lpstr>Aptos Display</vt:lpstr>
      <vt:lpstr>Arial</vt:lpstr>
      <vt:lpstr>Calibri</vt:lpstr>
      <vt:lpstr>Courier New</vt:lpstr>
      <vt:lpstr>Futura Bk BT</vt:lpstr>
      <vt:lpstr>Montserrat</vt:lpstr>
      <vt:lpstr>Montserrat Bold</vt:lpstr>
      <vt:lpstr>Wingdings</vt:lpstr>
      <vt:lpstr>Office Theme</vt:lpstr>
      <vt:lpstr>PowerPoint Presentation</vt:lpstr>
      <vt:lpstr>PowerPoint Presentation</vt:lpstr>
      <vt:lpstr>Introduction</vt:lpstr>
      <vt:lpstr>PowerPoint Presentation</vt:lpstr>
      <vt:lpstr>Problem Statement</vt:lpstr>
      <vt:lpstr>PowerPoint Presentation</vt:lpstr>
      <vt:lpstr>Objectives</vt:lpstr>
      <vt:lpstr>Scope of the Project</vt:lpstr>
      <vt:lpstr>PowerPoint Presentation</vt:lpstr>
      <vt:lpstr>PowerPoint Presentation</vt:lpstr>
      <vt:lpstr>Literature Review / Existing System</vt:lpstr>
      <vt:lpstr>PowerPoint Presentation</vt:lpstr>
      <vt:lpstr>Proposed System</vt:lpstr>
      <vt:lpstr>Architecture</vt:lpstr>
      <vt:lpstr>PowerPoint Presentation</vt:lpstr>
      <vt:lpstr>PowerPoint Presentation</vt:lpstr>
      <vt:lpstr>Methodology / Algorithms </vt:lpstr>
      <vt:lpstr>PowerPoint Presentation</vt:lpstr>
      <vt:lpstr>Implementation Details </vt:lpstr>
      <vt:lpstr>PowerPoint Presentation</vt:lpstr>
      <vt:lpstr>PowerPoint Presentation</vt:lpstr>
      <vt:lpstr>Results &amp; Output </vt:lpstr>
      <vt:lpstr>PowerPoint Presentation</vt:lpstr>
      <vt:lpstr>PowerPoint Presentation</vt:lpstr>
      <vt:lpstr>Testing &amp; Validation</vt:lpstr>
      <vt:lpstr>PowerPoint Presentation</vt:lpstr>
      <vt:lpstr>PowerPoint Presentation</vt:lpstr>
      <vt:lpstr>Conclusion and Future enhancements </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Mr. Jayakumar TS - Amrita AHEAD</dc:creator>
  <cp:lastModifiedBy>Pavani Karthikeyi Bonthu</cp:lastModifiedBy>
  <cp:revision>87</cp:revision>
  <dcterms:created xsi:type="dcterms:W3CDTF">2024-11-25T04:24:19Z</dcterms:created>
  <dcterms:modified xsi:type="dcterms:W3CDTF">2026-07-22T17:08:22Z</dcterms:modified>
</cp:coreProperties>
</file>